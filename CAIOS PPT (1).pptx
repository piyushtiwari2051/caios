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748" r:id="rId1"/>
  </p:sldMasterIdLst>
  <p:notesMasterIdLst>
    <p:notesMasterId r:id="rId15"/>
  </p:notesMasterIdLst>
  <p:sldIdLst>
    <p:sldId id="273" r:id="rId2"/>
    <p:sldId id="272" r:id="rId3"/>
    <p:sldId id="289" r:id="rId4"/>
    <p:sldId id="309" r:id="rId5"/>
    <p:sldId id="310" r:id="rId6"/>
    <p:sldId id="311" r:id="rId7"/>
    <p:sldId id="299" r:id="rId8"/>
    <p:sldId id="315" r:id="rId9"/>
    <p:sldId id="313" r:id="rId10"/>
    <p:sldId id="263" r:id="rId11"/>
    <p:sldId id="264" r:id="rId12"/>
    <p:sldId id="265" r:id="rId13"/>
    <p:sldId id="268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87361D8F-C2B4-4F05-8020-5E94581DB44C}">
          <p14:sldIdLst>
            <p14:sldId id="273"/>
            <p14:sldId id="272"/>
            <p14:sldId id="289"/>
          </p14:sldIdLst>
        </p14:section>
        <p14:section name="Proposed Solution" id="{AFA02B39-23C5-4D04-BCE3-3D63BD5B3F6B}">
          <p14:sldIdLst>
            <p14:sldId id="309"/>
            <p14:sldId id="310"/>
            <p14:sldId id="311"/>
            <p14:sldId id="299"/>
          </p14:sldIdLst>
        </p14:section>
        <p14:section name="Market Research" id="{BFDB7443-3565-4D82-BE68-F2BAB68DAA07}">
          <p14:sldIdLst>
            <p14:sldId id="315"/>
            <p14:sldId id="313"/>
            <p14:sldId id="263"/>
            <p14:sldId id="264"/>
            <p14:sldId id="265"/>
          </p14:sldIdLst>
        </p14:section>
        <p14:section name="Implementation" id="{62B8D5FF-D893-48AD-8F63-308C8DD86B24}">
          <p14:sldIdLst>
            <p14:sldId id="26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3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976D2"/>
    <a:srgbClr val="1E88E5"/>
    <a:srgbClr val="000000"/>
    <a:srgbClr val="F5FAFF"/>
    <a:srgbClr val="00FFCC"/>
    <a:srgbClr val="112B3C"/>
    <a:srgbClr val="FCFC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6405" autoAdjust="0"/>
  </p:normalViewPr>
  <p:slideViewPr>
    <p:cSldViewPr showGuides="1">
      <p:cViewPr varScale="1">
        <p:scale>
          <a:sx n="67" d="100"/>
          <a:sy n="67" d="100"/>
        </p:scale>
        <p:origin x="1934" y="67"/>
      </p:cViewPr>
      <p:guideLst>
        <p:guide orient="horz" pos="2160"/>
        <p:guide pos="2832"/>
      </p:guideLst>
    </p:cSldViewPr>
  </p:slideViewPr>
  <p:outlineViewPr>
    <p:cViewPr varScale="1">
      <p:scale>
        <a:sx n="170" d="200"/>
        <a:sy n="170" d="200"/>
      </p:scale>
      <p:origin x="-780" y="-84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AutoShape 1"/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525">
            <a:noFill/>
            <a:round/>
          </a:ln>
        </p:spPr>
        <p:txBody>
          <a:bodyPr wrap="none" anchor="ctr"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Times New Roman" panose="02020603050405020304" pitchFamily="18" charset="0"/>
              <a:buNone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Noto Sans CJK SC Regular" charset="0"/>
              <a:cs typeface="Arial" panose="020B0604020202020204" pitchFamily="34" charset="0"/>
            </a:endParaRPr>
          </a:p>
        </p:txBody>
      </p:sp>
      <p:sp>
        <p:nvSpPr>
          <p:cNvPr id="2051" name="Text Box 2"/>
          <p:cNvSpPr txBox="1"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Times New Roman" panose="02020603050405020304" pitchFamily="18" charset="0"/>
              <a:buNone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Noto Sans CJK SC Regular" charset="0"/>
              <a:cs typeface="Arial" panose="020B0604020202020204" pitchFamily="34" charset="0"/>
            </a:endParaRP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/>
          </p:nvPr>
        </p:nvSpPr>
        <p:spPr bwMode="auto">
          <a:xfrm>
            <a:off x="3884613" y="0"/>
            <a:ext cx="2970213" cy="455613"/>
          </a:xfrm>
          <a:prstGeom prst="rect">
            <a:avLst/>
          </a:prstGeom>
          <a:noFill/>
          <a:ln w="9525" cap="flat">
            <a:noFill/>
            <a:round/>
          </a:ln>
          <a:effectLst/>
        </p:spPr>
        <p:txBody>
          <a:bodyPr vert="horz" wrap="square" lIns="90000" tIns="46800" rIns="90000" bIns="46800" numCol="1" anchor="t" anchorCtr="0" compatLnSpc="1"/>
          <a:lstStyle/>
          <a:p>
            <a:pPr lvl="0" algn="r" defTabSz="449580" eaLnBrk="1" hangingPunct="1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altLang="zh-CN" sz="1200" dirty="0">
              <a:solidFill>
                <a:srgbClr val="000000"/>
              </a:solidFill>
              <a:latin typeface="Calibri" panose="020F0502020204030204" pitchFamily="34" charset="0"/>
              <a:ea typeface="SimSun" panose="02010600030101010101" pitchFamily="2" charset="-122"/>
            </a:endParaRPr>
          </a:p>
        </p:txBody>
      </p:sp>
      <p:sp>
        <p:nvSpPr>
          <p:cNvPr id="5125" name="Rectangle 4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0413" cy="3427413"/>
          </a:xfrm>
          <a:prstGeom prst="rect">
            <a:avLst/>
          </a:prstGeom>
          <a:noFill/>
          <a:ln w="12600" cap="sq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body"/>
          </p:nvPr>
        </p:nvSpPr>
        <p:spPr bwMode="auto">
          <a:xfrm>
            <a:off x="685800" y="4343400"/>
            <a:ext cx="5484813" cy="4113213"/>
          </a:xfrm>
          <a:prstGeom prst="rect">
            <a:avLst/>
          </a:prstGeom>
          <a:noFill/>
          <a:ln w="9525" cap="flat">
            <a:noFill/>
            <a:round/>
          </a:ln>
          <a:effectLst/>
        </p:spPr>
        <p:txBody>
          <a:bodyPr vert="horz" wrap="square" lIns="90000" tIns="46800" rIns="90000" bIns="46800" numCol="1" anchor="t" anchorCtr="0" compatLnSpc="1"/>
          <a:lstStyle/>
          <a:p>
            <a:pPr marL="0" marR="0" lvl="0" indent="0" algn="l" defTabSz="44958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Pct val="100000"/>
              <a:buFont typeface="Times New Roman" panose="02020603050405020304" pitchFamily="18" charset="0"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2055" name="Text Box 6"/>
          <p:cNvSpPr txBox="1">
            <a:spLocks noChangeArrowheads="1"/>
          </p:cNvSpPr>
          <p:nvPr/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Times New Roman" panose="02020603050405020304" pitchFamily="18" charset="0"/>
              <a:buNone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Noto Sans CJK SC Regular" charset="0"/>
              <a:cs typeface="Arial" panose="020B0604020202020204" pitchFamily="34" charset="0"/>
            </a:endParaRPr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/>
          </p:nvPr>
        </p:nvSpPr>
        <p:spPr bwMode="auto">
          <a:xfrm>
            <a:off x="3884613" y="8685213"/>
            <a:ext cx="2970213" cy="455613"/>
          </a:xfrm>
          <a:prstGeom prst="rect">
            <a:avLst/>
          </a:prstGeom>
          <a:noFill/>
          <a:ln w="9525" cap="flat">
            <a:noFill/>
            <a:round/>
          </a:ln>
          <a:effectLst/>
        </p:spPr>
        <p:txBody>
          <a:bodyPr vert="horz" wrap="square" lIns="90000" tIns="46800" rIns="90000" bIns="46800" numCol="1" anchor="b" anchorCtr="0" compatLnSpc="1"/>
          <a:lstStyle/>
          <a:p>
            <a:pPr lvl="0" algn="r" defTabSz="449580" eaLnBrk="1" hangingPunct="1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9A0DB2DC-4C9A-4742-B13C-FB6460FD3503}" type="slidenum">
              <a:rPr lang="en-US" altLang="en-US" sz="1200" dirty="0">
                <a:solidFill>
                  <a:srgbClr val="000000"/>
                </a:solidFill>
                <a:latin typeface="Calibri" panose="020F0502020204030204" pitchFamily="34" charset="0"/>
              </a:rPr>
              <a:t>‹#›</a:t>
            </a:fld>
            <a:endParaRPr lang="en-US" altLang="en-US" sz="1200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defTabSz="449580" rtl="0" eaLnBrk="0" fontAlgn="base" hangingPunct="0">
      <a:spcBef>
        <a:spcPct val="30000"/>
      </a:spcBef>
      <a:spcAft>
        <a:spcPct val="0"/>
      </a:spcAft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1pPr>
    <a:lvl2pPr marL="742950" indent="-285750" algn="l" defTabSz="449580" rtl="0" eaLnBrk="0" fontAlgn="base" hangingPunct="0">
      <a:spcBef>
        <a:spcPct val="30000"/>
      </a:spcBef>
      <a:spcAft>
        <a:spcPct val="0"/>
      </a:spcAft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2pPr>
    <a:lvl3pPr marL="1143000" indent="-228600" algn="l" defTabSz="449580" rtl="0" eaLnBrk="0" fontAlgn="base" hangingPunct="0">
      <a:spcBef>
        <a:spcPct val="30000"/>
      </a:spcBef>
      <a:spcAft>
        <a:spcPct val="0"/>
      </a:spcAft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3pPr>
    <a:lvl4pPr marL="1600200" indent="-228600" algn="l" defTabSz="449580" rtl="0" eaLnBrk="0" fontAlgn="base" hangingPunct="0">
      <a:spcBef>
        <a:spcPct val="30000"/>
      </a:spcBef>
      <a:spcAft>
        <a:spcPct val="0"/>
      </a:spcAft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4pPr>
    <a:lvl5pPr marL="2057400" indent="-228600" algn="l" defTabSz="449580" rtl="0" eaLnBrk="0" fontAlgn="base" hangingPunct="0">
      <a:spcBef>
        <a:spcPct val="30000"/>
      </a:spcBef>
      <a:spcAft>
        <a:spcPct val="0"/>
      </a:spcAft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0212" cy="455612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b" anchorCtr="0"/>
          <a:lstStyle/>
          <a:p>
            <a:pPr lvl="0" algn="r" defTabSz="449580" eaLnBrk="1" hangingPunct="1"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9A0DB2DC-4C9A-4742-B13C-FB6460FD3503}" type="slidenum">
              <a:rPr lang="en-US" altLang="en-US" dirty="0">
                <a:latin typeface="Calibri" panose="020F0502020204030204" pitchFamily="34" charset="0"/>
              </a:rPr>
              <a:t>1</a:t>
            </a:fld>
            <a:endParaRPr lang="en-US" altLang="en-US" dirty="0">
              <a:latin typeface="Calibri" panose="020F0502020204030204" pitchFamily="34" charset="0"/>
            </a:endParaRPr>
          </a:p>
        </p:txBody>
      </p:sp>
      <p:sp>
        <p:nvSpPr>
          <p:cNvPr id="6147" name="Rectangle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>
              <a:alpha val="100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6148" name="Text Box 2"/>
          <p:cNvSpPr txBox="1"/>
          <p:nvPr/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/>
          <a:p>
            <a:pPr lvl="0" eaLnBrk="1" hangingPunct="1">
              <a:buFont typeface="Times New Roman" panose="02020603050405020304" pitchFamily="18" charset="0"/>
            </a:pPr>
            <a:endParaRPr lang="en-US" altLang="en-US" dirty="0"/>
          </a:p>
        </p:txBody>
      </p:sp>
      <p:sp>
        <p:nvSpPr>
          <p:cNvPr id="6149" name="Text Box 3"/>
          <p:cNvSpPr txBox="1"/>
          <p:nvPr/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b" anchorCtr="0"/>
          <a:lstStyle/>
          <a:p>
            <a:pPr lvl="0" algn="r" defTabSz="449580" eaLnBrk="1" hangingPunct="1"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9A0DB2DC-4C9A-4742-B13C-FB6460FD3503}" type="slidenum">
              <a:rPr lang="en-US" altLang="en-US" dirty="0">
                <a:latin typeface="Calibri" panose="020F0502020204030204" pitchFamily="34" charset="0"/>
              </a:rPr>
              <a:t>1</a:t>
            </a:fld>
            <a:endParaRPr lang="en-US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0212" cy="455612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b" anchorCtr="0"/>
          <a:lstStyle/>
          <a:p>
            <a:pPr lvl="0" algn="r" defTabSz="449580" eaLnBrk="1" hangingPunct="1"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9A0DB2DC-4C9A-4742-B13C-FB6460FD3503}" type="slidenum">
              <a:rPr lang="en-US" altLang="en-US" dirty="0">
                <a:latin typeface="Calibri" panose="020F0502020204030204" pitchFamily="34" charset="0"/>
              </a:rPr>
              <a:t>2</a:t>
            </a:fld>
            <a:endParaRPr lang="en-US" altLang="en-US" dirty="0">
              <a:latin typeface="Calibri" panose="020F0502020204030204" pitchFamily="34" charset="0"/>
            </a:endParaRPr>
          </a:p>
        </p:txBody>
      </p:sp>
      <p:sp>
        <p:nvSpPr>
          <p:cNvPr id="7171" name="Rectangle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>
              <a:alpha val="100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7172" name="Text Box 2"/>
          <p:cNvSpPr txBox="1"/>
          <p:nvPr/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/>
          <a:p>
            <a:pPr lvl="0" eaLnBrk="1" hangingPunct="1">
              <a:buFont typeface="Times New Roman" panose="02020603050405020304" pitchFamily="18" charset="0"/>
            </a:pPr>
            <a:endParaRPr lang="en-US" altLang="en-US" dirty="0"/>
          </a:p>
        </p:txBody>
      </p:sp>
      <p:sp>
        <p:nvSpPr>
          <p:cNvPr id="7173" name="Text Box 3"/>
          <p:cNvSpPr txBox="1"/>
          <p:nvPr/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b" anchorCtr="0"/>
          <a:lstStyle/>
          <a:p>
            <a:pPr lvl="0" algn="r" defTabSz="449580" eaLnBrk="1" hangingPunct="1"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9A0DB2DC-4C9A-4742-B13C-FB6460FD3503}" type="slidenum">
              <a:rPr lang="en-US" altLang="en-US" dirty="0">
                <a:latin typeface="Calibri" panose="020F0502020204030204" pitchFamily="34" charset="0"/>
              </a:rPr>
              <a:t>2</a:t>
            </a:fld>
            <a:endParaRPr lang="en-US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0212" cy="455612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b" anchorCtr="0"/>
          <a:lstStyle/>
          <a:p>
            <a:pPr lvl="0" algn="r" defTabSz="449580" eaLnBrk="1" hangingPunct="1"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9A0DB2DC-4C9A-4742-B13C-FB6460FD3503}" type="slidenum">
              <a:rPr lang="en-US" altLang="en-US" dirty="0">
                <a:latin typeface="Calibri" panose="020F0502020204030204" pitchFamily="34" charset="0"/>
              </a:rPr>
              <a:t>3</a:t>
            </a:fld>
            <a:endParaRPr lang="en-US" altLang="en-US" dirty="0">
              <a:latin typeface="Calibri" panose="020F0502020204030204" pitchFamily="34" charset="0"/>
            </a:endParaRPr>
          </a:p>
        </p:txBody>
      </p:sp>
      <p:sp>
        <p:nvSpPr>
          <p:cNvPr id="7171" name="Rectangle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>
              <a:alpha val="100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7172" name="Text Box 2"/>
          <p:cNvSpPr txBox="1"/>
          <p:nvPr/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/>
          <a:p>
            <a:pPr lvl="0" eaLnBrk="1" hangingPunct="1">
              <a:buFont typeface="Times New Roman" panose="02020603050405020304" pitchFamily="18" charset="0"/>
            </a:pPr>
            <a:endParaRPr lang="en-US" altLang="en-US" dirty="0"/>
          </a:p>
        </p:txBody>
      </p:sp>
      <p:sp>
        <p:nvSpPr>
          <p:cNvPr id="7173" name="Text Box 3"/>
          <p:cNvSpPr txBox="1"/>
          <p:nvPr/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b" anchorCtr="0"/>
          <a:lstStyle/>
          <a:p>
            <a:pPr lvl="0" algn="r" defTabSz="449580" eaLnBrk="1" hangingPunct="1"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9A0DB2DC-4C9A-4742-B13C-FB6460FD3503}" type="slidenum">
              <a:rPr lang="en-US" altLang="en-US" dirty="0">
                <a:latin typeface="Calibri" panose="020F0502020204030204" pitchFamily="34" charset="0"/>
              </a:rPr>
              <a:t>3</a:t>
            </a:fld>
            <a:endParaRPr lang="en-US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FF09658-FEA4-48A3-56A5-A1E6CC61C6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>
            <a:extLst>
              <a:ext uri="{FF2B5EF4-FFF2-40B4-BE49-F238E27FC236}">
                <a16:creationId xmlns:a16="http://schemas.microsoft.com/office/drawing/2014/main" id="{FFDE4DE3-96F9-E2B4-CC19-B0F9FAB757F2}"/>
              </a:ext>
            </a:extLst>
          </p:cNvPr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0212" cy="455612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b" anchorCtr="0"/>
          <a:lstStyle/>
          <a:p>
            <a:pPr lvl="0" algn="r" defTabSz="449580" eaLnBrk="1" hangingPunct="1"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9A0DB2DC-4C9A-4742-B13C-FB6460FD3503}" type="slidenum">
              <a:rPr lang="en-US" altLang="en-US" dirty="0">
                <a:latin typeface="Calibri" panose="020F0502020204030204" pitchFamily="34" charset="0"/>
              </a:rPr>
              <a:t>4</a:t>
            </a:fld>
            <a:endParaRPr lang="en-US" altLang="en-US" dirty="0">
              <a:latin typeface="Calibri" panose="020F0502020204030204" pitchFamily="34" charset="0"/>
            </a:endParaRPr>
          </a:p>
        </p:txBody>
      </p:sp>
      <p:sp>
        <p:nvSpPr>
          <p:cNvPr id="7171" name="Rectangle 1">
            <a:extLst>
              <a:ext uri="{FF2B5EF4-FFF2-40B4-BE49-F238E27FC236}">
                <a16:creationId xmlns:a16="http://schemas.microsoft.com/office/drawing/2014/main" id="{BDD9CB9B-8E4C-5F6E-8078-976FBF68AD0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>
              <a:alpha val="100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7172" name="Text Box 2">
            <a:extLst>
              <a:ext uri="{FF2B5EF4-FFF2-40B4-BE49-F238E27FC236}">
                <a16:creationId xmlns:a16="http://schemas.microsoft.com/office/drawing/2014/main" id="{0AA247B6-DC91-90CF-D95B-2DEE31F2E222}"/>
              </a:ext>
            </a:extLst>
          </p:cNvPr>
          <p:cNvSpPr txBox="1"/>
          <p:nvPr/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/>
          <a:p>
            <a:pPr lvl="0" eaLnBrk="1" hangingPunct="1">
              <a:buFont typeface="Times New Roman" panose="02020603050405020304" pitchFamily="18" charset="0"/>
            </a:pPr>
            <a:endParaRPr lang="en-US" altLang="en-US" dirty="0"/>
          </a:p>
        </p:txBody>
      </p:sp>
      <p:sp>
        <p:nvSpPr>
          <p:cNvPr id="7173" name="Text Box 3">
            <a:extLst>
              <a:ext uri="{FF2B5EF4-FFF2-40B4-BE49-F238E27FC236}">
                <a16:creationId xmlns:a16="http://schemas.microsoft.com/office/drawing/2014/main" id="{651C5505-6843-0F6F-7002-D43B434F99B9}"/>
              </a:ext>
            </a:extLst>
          </p:cNvPr>
          <p:cNvSpPr txBox="1"/>
          <p:nvPr/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b" anchorCtr="0"/>
          <a:lstStyle/>
          <a:p>
            <a:pPr lvl="0" algn="r" defTabSz="449580" eaLnBrk="1" hangingPunct="1"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9A0DB2DC-4C9A-4742-B13C-FB6460FD3503}" type="slidenum">
              <a:rPr lang="en-US" altLang="en-US" dirty="0">
                <a:latin typeface="Calibri" panose="020F0502020204030204" pitchFamily="34" charset="0"/>
              </a:rPr>
              <a:t>4</a:t>
            </a:fld>
            <a:endParaRPr lang="en-US" altLang="en-US" dirty="0">
              <a:latin typeface="Calibri" panose="020F0502020204030204" pitchFamily="34" charset="0"/>
            </a:endParaRPr>
          </a:p>
        </p:txBody>
      </p:sp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A50922F4-99D1-E8B1-0D7E-E142052F47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007617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4953C2D-A892-4549-90CF-01BFABA6B2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>
            <a:extLst>
              <a:ext uri="{FF2B5EF4-FFF2-40B4-BE49-F238E27FC236}">
                <a16:creationId xmlns:a16="http://schemas.microsoft.com/office/drawing/2014/main" id="{A5788071-12F7-E82B-7083-5AF0151EFBEE}"/>
              </a:ext>
            </a:extLst>
          </p:cNvPr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0212" cy="455612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b" anchorCtr="0"/>
          <a:lstStyle/>
          <a:p>
            <a:pPr lvl="0" algn="r" defTabSz="449580" eaLnBrk="1" hangingPunct="1"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9A0DB2DC-4C9A-4742-B13C-FB6460FD3503}" type="slidenum">
              <a:rPr lang="en-US" altLang="en-US" dirty="0">
                <a:latin typeface="Calibri" panose="020F0502020204030204" pitchFamily="34" charset="0"/>
              </a:rPr>
              <a:t>5</a:t>
            </a:fld>
            <a:endParaRPr lang="en-US" altLang="en-US" dirty="0">
              <a:latin typeface="Calibri" panose="020F0502020204030204" pitchFamily="34" charset="0"/>
            </a:endParaRPr>
          </a:p>
        </p:txBody>
      </p:sp>
      <p:sp>
        <p:nvSpPr>
          <p:cNvPr id="7171" name="Rectangle 1">
            <a:extLst>
              <a:ext uri="{FF2B5EF4-FFF2-40B4-BE49-F238E27FC236}">
                <a16:creationId xmlns:a16="http://schemas.microsoft.com/office/drawing/2014/main" id="{1EB3C2F9-BA2F-D3B8-B60A-0885E786BF6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>
              <a:alpha val="100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7172" name="Text Box 2">
            <a:extLst>
              <a:ext uri="{FF2B5EF4-FFF2-40B4-BE49-F238E27FC236}">
                <a16:creationId xmlns:a16="http://schemas.microsoft.com/office/drawing/2014/main" id="{19B9EF09-E54A-B7F6-2203-19C6B822DF06}"/>
              </a:ext>
            </a:extLst>
          </p:cNvPr>
          <p:cNvSpPr txBox="1"/>
          <p:nvPr/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/>
          <a:p>
            <a:pPr lvl="0" eaLnBrk="1" hangingPunct="1">
              <a:buFont typeface="Times New Roman" panose="02020603050405020304" pitchFamily="18" charset="0"/>
            </a:pPr>
            <a:endParaRPr lang="en-US" altLang="en-US" dirty="0"/>
          </a:p>
        </p:txBody>
      </p:sp>
      <p:sp>
        <p:nvSpPr>
          <p:cNvPr id="7173" name="Text Box 3">
            <a:extLst>
              <a:ext uri="{FF2B5EF4-FFF2-40B4-BE49-F238E27FC236}">
                <a16:creationId xmlns:a16="http://schemas.microsoft.com/office/drawing/2014/main" id="{45C849CE-4836-6929-62CE-FE81D0F5CAA1}"/>
              </a:ext>
            </a:extLst>
          </p:cNvPr>
          <p:cNvSpPr txBox="1"/>
          <p:nvPr/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b" anchorCtr="0"/>
          <a:lstStyle/>
          <a:p>
            <a:pPr lvl="0" algn="r" defTabSz="449580" eaLnBrk="1" hangingPunct="1"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9A0DB2DC-4C9A-4742-B13C-FB6460FD3503}" type="slidenum">
              <a:rPr lang="en-US" altLang="en-US" dirty="0">
                <a:latin typeface="Calibri" panose="020F0502020204030204" pitchFamily="34" charset="0"/>
              </a:rPr>
              <a:t>5</a:t>
            </a:fld>
            <a:endParaRPr lang="en-US" altLang="en-US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64563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0A06361-CF9C-AD65-D7C2-91F5467F5E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>
            <a:extLst>
              <a:ext uri="{FF2B5EF4-FFF2-40B4-BE49-F238E27FC236}">
                <a16:creationId xmlns:a16="http://schemas.microsoft.com/office/drawing/2014/main" id="{454830C8-A9B9-518F-8AB0-0FB5FFB06BBB}"/>
              </a:ext>
            </a:extLst>
          </p:cNvPr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0212" cy="455612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b" anchorCtr="0"/>
          <a:lstStyle/>
          <a:p>
            <a:pPr lvl="0" algn="r" defTabSz="449580" eaLnBrk="1" hangingPunct="1"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9A0DB2DC-4C9A-4742-B13C-FB6460FD3503}" type="slidenum">
              <a:rPr lang="en-US" altLang="en-US" dirty="0">
                <a:latin typeface="Calibri" panose="020F0502020204030204" pitchFamily="34" charset="0"/>
              </a:rPr>
              <a:t>6</a:t>
            </a:fld>
            <a:endParaRPr lang="en-US" altLang="en-US" dirty="0">
              <a:latin typeface="Calibri" panose="020F0502020204030204" pitchFamily="34" charset="0"/>
            </a:endParaRPr>
          </a:p>
        </p:txBody>
      </p:sp>
      <p:sp>
        <p:nvSpPr>
          <p:cNvPr id="7171" name="Rectangle 1">
            <a:extLst>
              <a:ext uri="{FF2B5EF4-FFF2-40B4-BE49-F238E27FC236}">
                <a16:creationId xmlns:a16="http://schemas.microsoft.com/office/drawing/2014/main" id="{00713708-5489-B0D7-6C9A-784E3945E3A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>
              <a:alpha val="100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7172" name="Text Box 2">
            <a:extLst>
              <a:ext uri="{FF2B5EF4-FFF2-40B4-BE49-F238E27FC236}">
                <a16:creationId xmlns:a16="http://schemas.microsoft.com/office/drawing/2014/main" id="{1CD4E3A3-BE5E-F726-0764-F930C8D58D97}"/>
              </a:ext>
            </a:extLst>
          </p:cNvPr>
          <p:cNvSpPr txBox="1"/>
          <p:nvPr/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/>
          <a:p>
            <a:pPr lvl="0" eaLnBrk="1" hangingPunct="1">
              <a:buFont typeface="Times New Roman" panose="02020603050405020304" pitchFamily="18" charset="0"/>
            </a:pPr>
            <a:endParaRPr lang="en-US" altLang="en-US" dirty="0"/>
          </a:p>
        </p:txBody>
      </p:sp>
      <p:sp>
        <p:nvSpPr>
          <p:cNvPr id="7173" name="Text Box 3">
            <a:extLst>
              <a:ext uri="{FF2B5EF4-FFF2-40B4-BE49-F238E27FC236}">
                <a16:creationId xmlns:a16="http://schemas.microsoft.com/office/drawing/2014/main" id="{1D05E795-6405-EB47-1B06-F0C69A3BE333}"/>
              </a:ext>
            </a:extLst>
          </p:cNvPr>
          <p:cNvSpPr txBox="1"/>
          <p:nvPr/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b" anchorCtr="0"/>
          <a:lstStyle/>
          <a:p>
            <a:pPr lvl="0" algn="r" defTabSz="449580" eaLnBrk="1" hangingPunct="1"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9A0DB2DC-4C9A-4742-B13C-FB6460FD3503}" type="slidenum">
              <a:rPr lang="en-US" altLang="en-US" dirty="0">
                <a:latin typeface="Calibri" panose="020F0502020204030204" pitchFamily="34" charset="0"/>
              </a:rPr>
              <a:t>6</a:t>
            </a:fld>
            <a:endParaRPr lang="en-US" altLang="en-US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24095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0212" cy="455612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b" anchorCtr="0"/>
          <a:lstStyle/>
          <a:p>
            <a:pPr lvl="0" algn="r" defTabSz="449580" eaLnBrk="1" hangingPunct="1"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9A0DB2DC-4C9A-4742-B13C-FB6460FD3503}" type="slidenum">
              <a:rPr lang="en-US" altLang="en-US" dirty="0">
                <a:latin typeface="Calibri" panose="020F0502020204030204" pitchFamily="34" charset="0"/>
              </a:rPr>
              <a:t>7</a:t>
            </a:fld>
            <a:endParaRPr lang="en-US" altLang="en-US" dirty="0">
              <a:latin typeface="Calibri" panose="020F0502020204030204" pitchFamily="34" charset="0"/>
            </a:endParaRPr>
          </a:p>
        </p:txBody>
      </p:sp>
      <p:sp>
        <p:nvSpPr>
          <p:cNvPr id="7171" name="Rectangle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>
              <a:alpha val="100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7172" name="Text Box 2"/>
          <p:cNvSpPr txBox="1"/>
          <p:nvPr/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/>
          <a:p>
            <a:pPr lvl="0" eaLnBrk="1" hangingPunct="1">
              <a:buFont typeface="Times New Roman" panose="02020603050405020304" pitchFamily="18" charset="0"/>
            </a:pPr>
            <a:endParaRPr lang="en-US" altLang="en-US" dirty="0"/>
          </a:p>
        </p:txBody>
      </p:sp>
      <p:sp>
        <p:nvSpPr>
          <p:cNvPr id="7173" name="Text Box 3"/>
          <p:cNvSpPr txBox="1"/>
          <p:nvPr/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b" anchorCtr="0"/>
          <a:lstStyle/>
          <a:p>
            <a:pPr lvl="0" algn="r" defTabSz="449580" eaLnBrk="1" hangingPunct="1"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9A0DB2DC-4C9A-4742-B13C-FB6460FD3503}" type="slidenum">
              <a:rPr lang="en-US" altLang="en-US" dirty="0">
                <a:latin typeface="Calibri" panose="020F0502020204030204" pitchFamily="34" charset="0"/>
              </a:rPr>
              <a:t>7</a:t>
            </a:fld>
            <a:endParaRPr lang="en-US" altLang="en-US" dirty="0">
              <a:latin typeface="Calibri" panose="020F0502020204030204" pitchFamily="34" charset="0"/>
            </a:endParaRPr>
          </a:p>
        </p:txBody>
      </p:sp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60698118-5DAD-2AE3-BD43-B4CE4073FA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DAE5A01-D6C8-6F58-F197-CA877648D5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>
            <a:extLst>
              <a:ext uri="{FF2B5EF4-FFF2-40B4-BE49-F238E27FC236}">
                <a16:creationId xmlns:a16="http://schemas.microsoft.com/office/drawing/2014/main" id="{6A0603F0-091E-30A7-CF55-CDC5A775B06E}"/>
              </a:ext>
            </a:extLst>
          </p:cNvPr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0212" cy="455612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b" anchorCtr="0"/>
          <a:lstStyle/>
          <a:p>
            <a:pPr lvl="0" algn="r" defTabSz="449580" eaLnBrk="1" hangingPunct="1"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9A0DB2DC-4C9A-4742-B13C-FB6460FD3503}" type="slidenum">
              <a:rPr lang="en-US" altLang="en-US" dirty="0">
                <a:latin typeface="Calibri" panose="020F0502020204030204" pitchFamily="34" charset="0"/>
              </a:rPr>
              <a:t>8</a:t>
            </a:fld>
            <a:endParaRPr lang="en-US" altLang="en-US" dirty="0">
              <a:latin typeface="Calibri" panose="020F0502020204030204" pitchFamily="34" charset="0"/>
            </a:endParaRPr>
          </a:p>
        </p:txBody>
      </p:sp>
      <p:sp>
        <p:nvSpPr>
          <p:cNvPr id="7171" name="Rectangle 1">
            <a:extLst>
              <a:ext uri="{FF2B5EF4-FFF2-40B4-BE49-F238E27FC236}">
                <a16:creationId xmlns:a16="http://schemas.microsoft.com/office/drawing/2014/main" id="{C49E0A0F-36E7-3CED-B7F5-17FF47803FF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>
              <a:alpha val="100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7172" name="Text Box 2">
            <a:extLst>
              <a:ext uri="{FF2B5EF4-FFF2-40B4-BE49-F238E27FC236}">
                <a16:creationId xmlns:a16="http://schemas.microsoft.com/office/drawing/2014/main" id="{CC6DE250-91FC-0FB7-0774-61C69C653A7D}"/>
              </a:ext>
            </a:extLst>
          </p:cNvPr>
          <p:cNvSpPr txBox="1"/>
          <p:nvPr/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/>
          <a:p>
            <a:pPr lvl="0" eaLnBrk="1" hangingPunct="1">
              <a:buFont typeface="Times New Roman" panose="02020603050405020304" pitchFamily="18" charset="0"/>
            </a:pPr>
            <a:endParaRPr lang="en-US" altLang="en-US" dirty="0"/>
          </a:p>
        </p:txBody>
      </p:sp>
      <p:sp>
        <p:nvSpPr>
          <p:cNvPr id="7173" name="Text Box 3">
            <a:extLst>
              <a:ext uri="{FF2B5EF4-FFF2-40B4-BE49-F238E27FC236}">
                <a16:creationId xmlns:a16="http://schemas.microsoft.com/office/drawing/2014/main" id="{078087D5-98AC-A8DD-92DB-8098235A5309}"/>
              </a:ext>
            </a:extLst>
          </p:cNvPr>
          <p:cNvSpPr txBox="1"/>
          <p:nvPr/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b" anchorCtr="0"/>
          <a:lstStyle/>
          <a:p>
            <a:pPr lvl="0" algn="r" defTabSz="449580" eaLnBrk="1" hangingPunct="1"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9A0DB2DC-4C9A-4742-B13C-FB6460FD3503}" type="slidenum">
              <a:rPr lang="en-US" altLang="en-US" dirty="0">
                <a:latin typeface="Calibri" panose="020F0502020204030204" pitchFamily="34" charset="0"/>
              </a:rPr>
              <a:t>8</a:t>
            </a:fld>
            <a:endParaRPr lang="en-US" altLang="en-US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68264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587479-9F8F-893E-2CBD-DEFB9E2220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C72CB5D-7018-2D63-E42E-7CBCCF6B04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FBE6D8-B896-C7FA-AF38-594EE57D1A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01/20/18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AEC6E7-A8FC-78ED-7EBD-D64746F77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A3016C-9E78-B759-0A14-9C22C1412B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IN" altLang="en-US" smtClean="0">
                <a:latin typeface="Arial" panose="020B0604020202020204" pitchFamily="34" charset="0"/>
              </a:rPr>
              <a:t>‹#›</a:t>
            </a:fld>
            <a:endParaRPr lang="en-IN" alt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7311124"/>
      </p:ext>
    </p:extLst>
  </p:cSld>
  <p:clrMapOvr>
    <a:masterClrMapping/>
  </p:clrMapOvr>
  <p:hf sldNum="0" hdr="0" ft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7542AC-A3B4-8513-378A-CC4FD67977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56BB43-54FB-2926-34DD-CE758FC51A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3A0ED6-369B-432B-70A2-B4B164DAFA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01/20/18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D8473B-D2E0-7323-A9F7-AD85A17C52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C3E841-C57C-AC6D-4B5E-74AAE8305C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IN" altLang="en-US" smtClean="0">
                <a:latin typeface="Arial" panose="020B0604020202020204" pitchFamily="34" charset="0"/>
              </a:rPr>
              <a:t>‹#›</a:t>
            </a:fld>
            <a:endParaRPr lang="en-IN" alt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37518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2D813E-D0BD-EFD2-F38A-4C31FE9CCE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1EC37A-E387-6C13-24F0-3B91F21265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657804-2E76-0EC0-F533-494D63F1B5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01/20/18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45F077-DD66-9047-F830-9EC3698BA9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C8CDF7-6578-A363-731A-2A0909CA3F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IN" altLang="en-US" smtClean="0">
                <a:latin typeface="Arial" panose="020B0604020202020204" pitchFamily="34" charset="0"/>
              </a:rPr>
              <a:t>‹#›</a:t>
            </a:fld>
            <a:endParaRPr lang="en-IN" alt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0104600"/>
      </p:ext>
    </p:extLst>
  </p:cSld>
  <p:clrMapOvr>
    <a:masterClrMapping/>
  </p:clrMapOvr>
  <p:hf sldNum="0" hdr="0" ft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8AB2DB-1158-452F-7FF1-F7E3DDBC06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52EABA-164B-BD4C-FD15-56EA36E42DA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FC04E3-92D2-838B-D0E5-A8F3A6F58A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5C8848-EA3A-FE8D-98D1-0F6D56736D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01/20/18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54CAE8-3298-63F1-622C-471AEEDCA8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B0E4C6-CCAB-F021-63BC-724292C0BC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IN" altLang="en-US" smtClean="0">
                <a:latin typeface="Arial" panose="020B0604020202020204" pitchFamily="34" charset="0"/>
              </a:rPr>
              <a:t>‹#›</a:t>
            </a:fld>
            <a:endParaRPr lang="en-IN" alt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6842768"/>
      </p:ext>
    </p:extLst>
  </p:cSld>
  <p:clrMapOvr>
    <a:masterClrMapping/>
  </p:clrMapOvr>
  <p:hf sldNum="0" hdr="0" ft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D5CB81-EB51-7A8A-079A-74DF68382D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19953C-71B2-A4D6-C730-5E1C5FB675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5B5EC4-4101-D152-102B-DA18DCFEDB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CCA1E3F-9DAE-31C1-9C0E-31BD5F1BED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F5EDA28-B2E5-F400-773D-E768C25981F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AE8EF6-D2D9-41C9-0BE5-AA082CF0F7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01/20/18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4DA693D-EF53-6CC9-4A2B-8B726CED16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78E34DA-C399-C44E-9E08-2D926541C9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IN" altLang="en-US" smtClean="0">
                <a:latin typeface="Arial" panose="020B0604020202020204" pitchFamily="34" charset="0"/>
              </a:rPr>
              <a:t>‹#›</a:t>
            </a:fld>
            <a:endParaRPr lang="en-IN" alt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0333209"/>
      </p:ext>
    </p:extLst>
  </p:cSld>
  <p:clrMapOvr>
    <a:masterClrMapping/>
  </p:clrMapOvr>
  <p:hf sldNum="0" hdr="0" ft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054415-FC88-E4D4-6753-510434C3FF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216EB3-321E-72FD-18F9-FE12AC6B4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01/20/18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B2D84A-8EB4-CE49-7A0A-F51D20BFA1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018368-E394-5E3D-9D2C-5949977A40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IN" altLang="en-US" smtClean="0">
                <a:latin typeface="Arial" panose="020B0604020202020204" pitchFamily="34" charset="0"/>
              </a:rPr>
              <a:t>‹#›</a:t>
            </a:fld>
            <a:endParaRPr lang="en-IN" alt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07429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7125625-5AC5-0DE6-6F9E-D22D0CC8AE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01/20/18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F81B22A-7B25-9705-1B9C-B2D7C03BBC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04AA03-271D-3B8B-9188-DB4003B17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IN" altLang="en-US" smtClean="0">
                <a:latin typeface="Arial" panose="020B0604020202020204" pitchFamily="34" charset="0"/>
              </a:rPr>
              <a:t>‹#›</a:t>
            </a:fld>
            <a:endParaRPr lang="en-IN" alt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0590290"/>
      </p:ext>
    </p:extLst>
  </p:cSld>
  <p:clrMapOvr>
    <a:masterClrMapping/>
  </p:clrMapOvr>
  <p:hf sldNum="0" hdr="0" ft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F9366D-27D0-90CF-81B4-D50733DDAC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524C94-8776-806C-65A3-A00C024D26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2E2677-972F-756E-C2E1-BE74723688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1E15BC-9DF5-5E4B-80F1-093F5D0C19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01/20/18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041901-25B3-69FF-5DDD-908E623C7B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CDEC1F-D7D2-91F3-6532-5572E79FA7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IN" altLang="en-US" smtClean="0">
                <a:latin typeface="Arial" panose="020B0604020202020204" pitchFamily="34" charset="0"/>
              </a:rPr>
              <a:t>‹#›</a:t>
            </a:fld>
            <a:endParaRPr lang="en-IN" alt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4988038"/>
      </p:ext>
    </p:extLst>
  </p:cSld>
  <p:clrMapOvr>
    <a:masterClrMapping/>
  </p:clrMapOvr>
  <p:hf sldNum="0" hdr="0" ft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5421B-4100-4067-08B9-2A4C4212A9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252ADC5-A948-9759-A987-1DF754E9B5F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3C53A5-CF51-1B0F-246F-67B4E2EE65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1B9715-3B93-DCC2-4683-A04FFD81F5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01/20/18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612AA3-63F8-8C61-ED9F-8B36965E90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32508B-4A7A-1240-8A88-803A1F58CE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IN" altLang="en-US" smtClean="0">
                <a:latin typeface="Arial" panose="020B0604020202020204" pitchFamily="34" charset="0"/>
              </a:rPr>
              <a:t>‹#›</a:t>
            </a:fld>
            <a:endParaRPr lang="en-IN" alt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1045666"/>
      </p:ext>
    </p:extLst>
  </p:cSld>
  <p:clrMapOvr>
    <a:masterClrMapping/>
  </p:clrMapOvr>
  <p:hf sldNum="0" hdr="0" ft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BF5E5E-F2B5-E5DD-8AE1-B38CDFFED4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3E1089-BD04-1DA1-58AF-5854C96D21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6B69BA-34F0-0FB8-A3A1-DCEC9031F2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01/20/18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EF14DD-CBB2-66DA-FF70-1F506C86D5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0C5CC8-509D-B803-F513-8BAFFD3F4E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IN" altLang="en-US" smtClean="0">
                <a:latin typeface="Arial" panose="020B0604020202020204" pitchFamily="34" charset="0"/>
              </a:rPr>
              <a:t>‹#›</a:t>
            </a:fld>
            <a:endParaRPr lang="en-IN" alt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6614828"/>
      </p:ext>
    </p:extLst>
  </p:cSld>
  <p:clrMapOvr>
    <a:masterClrMapping/>
  </p:clrMapOvr>
  <p:hf sldNum="0" hdr="0" ft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A196F17-4397-979D-4DE2-8F59796B6FA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671B9F-93BF-9A45-A571-986C9BE33C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D35124-92CA-181D-2A6B-7F52FE215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01/20/18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7AC19C-35C5-F0CE-AB58-A7704D9F45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9FF9E7-BEDF-A619-909A-06A1762DAE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IN" altLang="en-US" smtClean="0">
                <a:latin typeface="Arial" panose="020B0604020202020204" pitchFamily="34" charset="0"/>
              </a:rPr>
              <a:t>‹#›</a:t>
            </a:fld>
            <a:endParaRPr lang="en-IN" alt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6462046"/>
      </p:ext>
    </p:extLst>
  </p:cSld>
  <p:clrMapOvr>
    <a:masterClrMapping/>
  </p:clrMapOvr>
  <p:hf sldNum="0" hdr="0" ftr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459378-C430-49DB-B2D6-E32FBBCD4A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FF5A02-0FC4-41C8-A13C-4C929B288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01/20/18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B9D57D-CB8E-4E67-AE2D-2790E2AA6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IN" altLang="en-US" smtClean="0">
                <a:latin typeface="Arial" panose="020B0604020202020204" pitchFamily="34" charset="0"/>
              </a:rPr>
              <a:t>‹#›</a:t>
            </a:fld>
            <a:endParaRPr lang="en-IN" alt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6388803"/>
      </p:ext>
    </p:extLst>
  </p:cSld>
  <p:clrMapOvr>
    <a:masterClrMapping/>
  </p:clrMapOvr>
  <p:hf sldNum="0" hdr="0" ftr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9C51BCD-8987-85F5-81CF-AFF51BFABE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03832F-5D5B-3611-D400-D66E1DC05F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8FB570-686C-BFCE-D2B1-AEA8CCAC25A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4495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01/20/18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AD88C6-A216-BABE-FC5D-7C3D3B66CD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7662EC-B1CB-73BD-F901-DE7106B49B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en-IN" altLang="en-US" smtClean="0">
                <a:latin typeface="Arial" panose="020B0604020202020204" pitchFamily="34" charset="0"/>
              </a:rPr>
              <a:t>‹#›</a:t>
            </a:fld>
            <a:endParaRPr lang="en-IN" alt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6494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9" r:id="rId1"/>
    <p:sldLayoutId id="2147483750" r:id="rId2"/>
    <p:sldLayoutId id="2147483751" r:id="rId3"/>
    <p:sldLayoutId id="2147483752" r:id="rId4"/>
    <p:sldLayoutId id="2147483753" r:id="rId5"/>
    <p:sldLayoutId id="2147483754" r:id="rId6"/>
    <p:sldLayoutId id="2147483755" r:id="rId7"/>
    <p:sldLayoutId id="2147483756" r:id="rId8"/>
    <p:sldLayoutId id="2147483757" r:id="rId9"/>
    <p:sldLayoutId id="2147483758" r:id="rId10"/>
    <p:sldLayoutId id="2147483759" r:id="rId11"/>
    <p:sldLayoutId id="2147483760" r:id="rId12"/>
  </p:sldLayoutIdLst>
  <p:hf sldNum="0" hdr="0" ft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randviewresearch.com/industry-analysis/causal-ai-market-report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5" Type="http://schemas.openxmlformats.org/officeDocument/2006/relationships/hyperlink" Target="https://www.polarismarketresearch.com/industry-analysis/causal-ai-market" TargetMode="External"/><Relationship Id="rId4" Type="http://schemas.openxmlformats.org/officeDocument/2006/relationships/hyperlink" Target="https://www.marketsandmarkets.com/Market-Reports/causal-ai-market-162494083.html" TargetMode="Externa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ext Box 1"/>
          <p:cNvSpPr txBox="1"/>
          <p:nvPr/>
        </p:nvSpPr>
        <p:spPr>
          <a:xfrm>
            <a:off x="1828800" y="304800"/>
            <a:ext cx="7010400" cy="10668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algn="ctr" defTabSz="44958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IN" altLang="en-US" sz="3200" b="1" dirty="0">
                <a:solidFill>
                  <a:srgbClr val="000000"/>
                </a:solidFill>
                <a:latin typeface="Calibri" panose="020F0502020204030204" pitchFamily="34" charset="0"/>
              </a:rPr>
              <a:t>   </a:t>
            </a:r>
          </a:p>
        </p:txBody>
      </p:sp>
      <p:sp>
        <p:nvSpPr>
          <p:cNvPr id="2056" name="TextBox 1"/>
          <p:cNvSpPr txBox="1"/>
          <p:nvPr/>
        </p:nvSpPr>
        <p:spPr>
          <a:xfrm>
            <a:off x="3238500" y="1143000"/>
            <a:ext cx="2667000" cy="7381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ctr" eaLnBrk="0" hangingPunct="0"/>
            <a:r>
              <a:rPr lang="en-IN" altLang="en-US" b="1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</a:p>
          <a:p>
            <a:pPr algn="ctr" eaLnBrk="0" hangingPunct="0"/>
            <a:r>
              <a:rPr lang="en-IN" altLang="en-US" sz="2400" b="1" dirty="0">
                <a:solidFill>
                  <a:schemeClr val="tx1"/>
                </a:solidFill>
                <a:cs typeface="Times New Roman" panose="02020603050405020304" pitchFamily="18" charset="0"/>
              </a:rPr>
              <a:t>Presentation</a:t>
            </a:r>
            <a:endParaRPr lang="en-IN" altLang="en-US" sz="2400" b="1" dirty="0">
              <a:solidFill>
                <a:schemeClr val="tx1"/>
              </a:solidFill>
              <a:ea typeface="Times New Roman" panose="02020603050405020304" pitchFamily="18" charset="0"/>
            </a:endParaRPr>
          </a:p>
        </p:txBody>
      </p:sp>
      <p:sp>
        <p:nvSpPr>
          <p:cNvPr id="2057" name="TextBox 8"/>
          <p:cNvSpPr txBox="1"/>
          <p:nvPr/>
        </p:nvSpPr>
        <p:spPr>
          <a:xfrm>
            <a:off x="1218406" y="2027238"/>
            <a:ext cx="6706394" cy="92333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altLang="x-none" b="1" dirty="0">
                <a:solidFill>
                  <a:schemeClr val="tx1"/>
                </a:solidFill>
              </a:rPr>
              <a:t>On</a:t>
            </a:r>
          </a:p>
          <a:p>
            <a:pPr algn="ctr"/>
            <a:r>
              <a:rPr lang="en-US" altLang="x-none" b="1" dirty="0">
                <a:latin typeface="Arial" panose="020B0604020202020204" pitchFamily="34" charset="0"/>
              </a:rPr>
              <a:t>CAIOS-Causal Adaptive Intelligence Operating System</a:t>
            </a:r>
            <a:endParaRPr lang="en-US" altLang="x-none" b="1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algn="ctr"/>
            <a:endParaRPr lang="en-US" altLang="x-none" b="1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4" name="object 9"/>
          <p:cNvSpPr txBox="1"/>
          <p:nvPr/>
        </p:nvSpPr>
        <p:spPr>
          <a:xfrm>
            <a:off x="5181600" y="3200400"/>
            <a:ext cx="4003675" cy="12439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br>
              <a:rPr lang="en-IN" altLang="en-IN" sz="2000" spc="-25" dirty="0">
                <a:solidFill>
                  <a:schemeClr val="tx1"/>
                </a:solidFill>
                <a:latin typeface="Calibri" panose="020F0502020204030204"/>
                <a:cs typeface="Calibri" panose="020F0502020204030204"/>
              </a:rPr>
            </a:br>
            <a:br>
              <a:rPr lang="en-IN" altLang="en-IN" sz="2000" spc="-25" dirty="0">
                <a:solidFill>
                  <a:schemeClr val="tx1"/>
                </a:solidFill>
                <a:latin typeface="Calibri" panose="020F0502020204030204"/>
                <a:cs typeface="Calibri" panose="020F0502020204030204"/>
              </a:rPr>
            </a:br>
            <a:br>
              <a:rPr lang="en-IN" altLang="en-IN" sz="2000" spc="-25" dirty="0">
                <a:solidFill>
                  <a:schemeClr val="tx1"/>
                </a:solidFill>
                <a:latin typeface="Calibri" panose="020F0502020204030204"/>
                <a:cs typeface="Calibri" panose="020F0502020204030204"/>
              </a:rPr>
            </a:br>
            <a:r>
              <a:rPr lang="en-IN" altLang="en-IN" sz="2000" spc="-25" dirty="0">
                <a:solidFill>
                  <a:schemeClr val="tx1"/>
                </a:solidFill>
                <a:latin typeface="Calibri" panose="020F0502020204030204"/>
                <a:cs typeface="Calibri" panose="020F0502020204030204"/>
              </a:rPr>
              <a:t>  </a:t>
            </a:r>
            <a:endParaRPr lang="en-US" altLang="en-IN" sz="2000" spc="-25" dirty="0">
              <a:solidFill>
                <a:schemeClr val="tx1"/>
              </a:solidFill>
              <a:latin typeface="Calibri" panose="020F0502020204030204"/>
              <a:cs typeface="Calibri" panose="020F0502020204030204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6307880-E684-35A4-A866-4A6DE2F4A9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1000"/>
            <a:ext cx="9144000" cy="6096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6A87E9F-4ECA-8143-A698-1F4324C1803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1000"/>
            <a:ext cx="9144000" cy="6096000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74" name="Text Box 1"/>
          <p:cNvSpPr txBox="1"/>
          <p:nvPr/>
        </p:nvSpPr>
        <p:spPr>
          <a:xfrm>
            <a:off x="304800" y="444817"/>
            <a:ext cx="8229600" cy="457200"/>
          </a:xfrm>
          <a:prstGeom prst="rect">
            <a:avLst/>
          </a:prstGeom>
          <a:ln w="9525">
            <a:noFill/>
          </a:ln>
        </p:spPr>
        <p:txBody>
          <a:bodyPr anchor="ctr" anchorCtr="0"/>
          <a:lstStyle/>
          <a:p>
            <a:pPr algn="ctr" defTabSz="449580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altLang="en-US" sz="3200" b="1" dirty="0">
                <a:solidFill>
                  <a:schemeClr val="tx1"/>
                </a:solidFill>
                <a:ea typeface="PMingLiU" pitchFamily="18" charset="-12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8" name="Text Placeholder 7"/>
          <p:cNvSpPr>
            <a:spLocks noGrp="1"/>
          </p:cNvSpPr>
          <p:nvPr/>
        </p:nvSpPr>
        <p:spPr>
          <a:xfrm>
            <a:off x="609601" y="1524000"/>
            <a:ext cx="8001000" cy="41549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>
              <a:defRPr sz="1950" b="1" i="0">
                <a:solidFill>
                  <a:schemeClr val="tx1"/>
                </a:solidFill>
                <a:latin typeface="Calibri" panose="020F0502020204030204"/>
                <a:ea typeface="+mn-ea"/>
                <a:cs typeface="Calibri" panose="020F0502020204030204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IN" sz="2200" dirty="0">
                <a:latin typeface="+mn-lt"/>
                <a:cs typeface="Times New Roman" panose="02020603050405020304" pitchFamily="18" charset="0"/>
              </a:rPr>
              <a:t>Background :</a:t>
            </a:r>
          </a:p>
          <a:p>
            <a:pPr algn="just"/>
            <a:r>
              <a:rPr lang="en-IN" sz="2200" b="0" dirty="0">
                <a:latin typeface="+mn-lt"/>
              </a:rPr>
              <a:t>AI systems today mostly predict outcomes through correlation, not true cause and effect  making decisions hard to trust, explain, or adapt when conditions change.</a:t>
            </a:r>
            <a:r>
              <a:rPr lang="en-US" sz="2200" b="0" dirty="0">
                <a:latin typeface="+mn-lt"/>
              </a:rPr>
              <a:t> </a:t>
            </a:r>
          </a:p>
          <a:p>
            <a:pPr algn="just"/>
            <a:r>
              <a:rPr lang="en-US" sz="2200" dirty="0">
                <a:latin typeface="+mn-lt"/>
                <a:cs typeface="Times New Roman" panose="02020603050405020304" pitchFamily="18" charset="0"/>
              </a:rPr>
              <a:t>Overview :</a:t>
            </a:r>
          </a:p>
          <a:p>
            <a:pPr algn="just"/>
            <a:r>
              <a:rPr lang="en-IN" sz="2200" b="0" dirty="0">
                <a:latin typeface="+mn-lt"/>
              </a:rPr>
              <a:t>CAIOS (Causal-Adaptive Intelligence OS) is a causal-inference-driven decision layer that understands </a:t>
            </a:r>
            <a:r>
              <a:rPr lang="en-IN" sz="2200" b="0" i="1" dirty="0">
                <a:latin typeface="+mn-lt"/>
              </a:rPr>
              <a:t>why</a:t>
            </a:r>
            <a:r>
              <a:rPr lang="en-IN" sz="2200" b="0" dirty="0">
                <a:latin typeface="+mn-lt"/>
              </a:rPr>
              <a:t> outcomes happen and automatically adapts system behaviour in real.</a:t>
            </a:r>
            <a:endParaRPr lang="en-US" sz="2200" b="0" dirty="0">
              <a:latin typeface="+mn-lt"/>
              <a:cs typeface="Times New Roman" panose="02020603050405020304" pitchFamily="18" charset="0"/>
            </a:endParaRPr>
          </a:p>
          <a:p>
            <a:pPr algn="just"/>
            <a:r>
              <a:rPr lang="en-US" sz="2200" dirty="0">
                <a:latin typeface="+mn-lt"/>
                <a:cs typeface="Times New Roman" panose="02020603050405020304" pitchFamily="18" charset="0"/>
              </a:rPr>
              <a:t>Idea Summary :</a:t>
            </a:r>
          </a:p>
          <a:p>
            <a:pPr algn="just"/>
            <a:r>
              <a:rPr lang="en-IN" sz="2200" b="0" dirty="0"/>
              <a:t>An explainable, self-adapting intelligence system that bridges causal AI with adaptive computing so decisions aren't just predicted, they're understood and acted on.</a:t>
            </a:r>
            <a:endParaRPr lang="en-US" sz="2200" b="0" dirty="0">
              <a:latin typeface="+mn-lt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ext Box 1"/>
          <p:cNvSpPr txBox="1"/>
          <p:nvPr/>
        </p:nvSpPr>
        <p:spPr>
          <a:xfrm>
            <a:off x="641931" y="576616"/>
            <a:ext cx="8229600" cy="4572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altLang="en-US" sz="3200" b="1" dirty="0">
                <a:solidFill>
                  <a:schemeClr val="tx1"/>
                </a:solidFill>
                <a:ea typeface="PMingLiU" pitchFamily="18" charset="-120"/>
                <a:cs typeface="Times New Roman" panose="02020603050405020304" pitchFamily="18" charset="0"/>
              </a:rPr>
              <a:t>Opportunity Recognition &amp; Feasibility</a:t>
            </a:r>
            <a:endParaRPr lang="en-US" altLang="en-US" sz="3200" b="1" dirty="0">
              <a:solidFill>
                <a:schemeClr val="tx1"/>
              </a:solidFill>
              <a:ea typeface="PMingLiU" pitchFamily="18" charset="-12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30D1A60-8731-3EF5-452B-F0A165A519E3}"/>
              </a:ext>
            </a:extLst>
          </p:cNvPr>
          <p:cNvSpPr txBox="1"/>
          <p:nvPr/>
        </p:nvSpPr>
        <p:spPr>
          <a:xfrm>
            <a:off x="457201" y="1295400"/>
            <a:ext cx="8229600" cy="498598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endParaRPr lang="en-US" sz="2200" b="1" dirty="0"/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US" sz="2200" b="1" dirty="0"/>
              <a:t>Problem Recognition:</a:t>
            </a:r>
            <a:r>
              <a:rPr lang="en-IN" sz="2200" dirty="0"/>
              <a:t>Most AI systems today make decisions using correlation instead of true cause-and-effect relationships. This makes their outputs hard to trust, explain, or justify when conditions change</a:t>
            </a:r>
            <a:r>
              <a:rPr lang="en-IN" sz="2400" dirty="0"/>
              <a:t>.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US" sz="2200" b="1" dirty="0"/>
              <a:t>Existing Gap / User Need:</a:t>
            </a:r>
            <a:r>
              <a:rPr lang="en-IN" sz="2200" dirty="0"/>
              <a:t>Causal-AI platforms like </a:t>
            </a:r>
            <a:r>
              <a:rPr lang="en-IN" sz="2200" dirty="0" err="1"/>
              <a:t>decisionOS</a:t>
            </a:r>
            <a:r>
              <a:rPr lang="en-IN" sz="2200" dirty="0"/>
              <a:t> exist as business dashboards; no unified OS-level layer combines causal reasoning with self-adaptive computing.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US" sz="2200" b="1" dirty="0"/>
              <a:t>Feasibility Study:</a:t>
            </a:r>
            <a:r>
              <a:rPr lang="en-IN" sz="2200" dirty="0"/>
              <a:t>Open-source causal frameworks (e.g., </a:t>
            </a:r>
            <a:r>
              <a:rPr lang="en-IN" sz="2200" dirty="0" err="1"/>
              <a:t>DoWhy</a:t>
            </a:r>
            <a:r>
              <a:rPr lang="en-IN" sz="2200" dirty="0"/>
              <a:t>) can be paired with a self-adaptive monitor </a:t>
            </a:r>
            <a:r>
              <a:rPr lang="en-IN" sz="2200" dirty="0" err="1"/>
              <a:t>analyze</a:t>
            </a:r>
            <a:r>
              <a:rPr lang="en-IN" sz="2200" dirty="0"/>
              <a:t> plan execute loop to make this feasible</a:t>
            </a:r>
            <a:r>
              <a:rPr lang="en-IN" sz="2400" dirty="0"/>
              <a:t>.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US" sz="2200" b="1" dirty="0"/>
              <a:t>Support with Data / Observations:</a:t>
            </a:r>
            <a:r>
              <a:rPr lang="en-IN" sz="2200" dirty="0"/>
              <a:t>Market reports vary widely in size estimates, but consistently cite explainability and regulatory pressure as the core growth driver.</a:t>
            </a:r>
            <a:endParaRPr lang="en-US" sz="2200" dirty="0"/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27FEA5-8189-165F-48F7-DE78EC494E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ext Box 1">
            <a:extLst>
              <a:ext uri="{FF2B5EF4-FFF2-40B4-BE49-F238E27FC236}">
                <a16:creationId xmlns:a16="http://schemas.microsoft.com/office/drawing/2014/main" id="{2316E648-8639-E7E0-CE2C-753484AB8AF9}"/>
              </a:ext>
            </a:extLst>
          </p:cNvPr>
          <p:cNvSpPr txBox="1"/>
          <p:nvPr/>
        </p:nvSpPr>
        <p:spPr>
          <a:xfrm>
            <a:off x="593725" y="452912"/>
            <a:ext cx="8229600" cy="4572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altLang="en-US" sz="3200" b="1" dirty="0">
                <a:solidFill>
                  <a:schemeClr val="tx1"/>
                </a:solidFill>
                <a:ea typeface="PMingLiU" pitchFamily="18" charset="-120"/>
                <a:cs typeface="Times New Roman" panose="02020603050405020304" pitchFamily="18" charset="0"/>
              </a:rPr>
              <a:t>Proposed Solution</a:t>
            </a:r>
            <a:endParaRPr lang="en-US" altLang="en-US" sz="3200" b="1" dirty="0">
              <a:solidFill>
                <a:schemeClr val="tx1"/>
              </a:solidFill>
              <a:ea typeface="PMingLiU" pitchFamily="18" charset="-12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D3BCBD1-B319-C75E-A9D3-450ECF136CB7}"/>
              </a:ext>
            </a:extLst>
          </p:cNvPr>
          <p:cNvSpPr txBox="1"/>
          <p:nvPr/>
        </p:nvSpPr>
        <p:spPr>
          <a:xfrm>
            <a:off x="457200" y="16764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897D8E1-3CDD-B1B3-C6A5-CD873A452541}"/>
              </a:ext>
            </a:extLst>
          </p:cNvPr>
          <p:cNvSpPr txBox="1"/>
          <p:nvPr/>
        </p:nvSpPr>
        <p:spPr>
          <a:xfrm>
            <a:off x="457201" y="1210623"/>
            <a:ext cx="8229599" cy="54949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400" b="1" dirty="0"/>
              <a:t>CAIOS</a:t>
            </a:r>
            <a:r>
              <a:rPr lang="en-IN" sz="2400" dirty="0"/>
              <a:t> </a:t>
            </a:r>
            <a:r>
              <a:rPr lang="en-IN" sz="2200" dirty="0"/>
              <a:t>is a causal-inference-driven decision and adaptation system that </a:t>
            </a:r>
            <a:r>
              <a:rPr lang="en-IN" sz="2200" dirty="0" err="1"/>
              <a:t>analyzes</a:t>
            </a:r>
            <a:r>
              <a:rPr lang="en-IN" sz="2200" dirty="0"/>
              <a:t> cause-effect relationships in data instead of just correlations, enabling more trustworthy, explainable decisions.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200" dirty="0"/>
              <a:t>It builds a causal model from the input data and uses it to identify </a:t>
            </a:r>
            <a:r>
              <a:rPr lang="en-IN" sz="2200" i="1" dirty="0"/>
              <a:t>why</a:t>
            </a:r>
            <a:r>
              <a:rPr lang="en-IN" sz="2200" dirty="0"/>
              <a:t> an outcome occurs, then reasons about which intervention would actually change that outcome not just which factors are statistically associated with it.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US" sz="2200" b="1" dirty="0"/>
              <a:t>Value Proposition:</a:t>
            </a:r>
            <a:r>
              <a:rPr lang="en-US" sz="2200" dirty="0"/>
              <a:t> </a:t>
            </a:r>
            <a:r>
              <a:rPr lang="en-IN" sz="2200" dirty="0"/>
              <a:t>An explainable, decision-intelligence system that goes beyond black-box prediction showing not just </a:t>
            </a:r>
            <a:r>
              <a:rPr lang="en-IN" sz="2200" i="1" dirty="0"/>
              <a:t>what</a:t>
            </a:r>
            <a:r>
              <a:rPr lang="en-IN" sz="2200" dirty="0"/>
              <a:t> will happen, but </a:t>
            </a:r>
            <a:r>
              <a:rPr lang="en-IN" sz="2200" i="1" dirty="0" err="1"/>
              <a:t>why</a:t>
            </a:r>
            <a:r>
              <a:rPr lang="en-IN" sz="2200" dirty="0" err="1"/>
              <a:t>,and</a:t>
            </a:r>
            <a:r>
              <a:rPr lang="en-IN" sz="2200" dirty="0"/>
              <a:t> what action would change it, through an interactive dashboard.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US" sz="2200" b="1" dirty="0"/>
              <a:t>Key Features:</a:t>
            </a:r>
            <a:r>
              <a:rPr lang="en-IN" sz="2200" dirty="0"/>
              <a:t>Causal Graph </a:t>
            </a:r>
            <a:r>
              <a:rPr lang="en-IN" sz="2200" dirty="0" err="1"/>
              <a:t>Modeling</a:t>
            </a:r>
            <a:r>
              <a:rPr lang="en-IN" sz="2200" dirty="0"/>
              <a:t>, Cause-Effect Analysis, Counterfactual "What-If" Reasoning, Explainable Decision Dashboard, and Data-Driven Recommendation Engine.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3416431359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F99719-CA7B-8067-A740-3CF835D4CC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ext Box 1">
            <a:extLst>
              <a:ext uri="{FF2B5EF4-FFF2-40B4-BE49-F238E27FC236}">
                <a16:creationId xmlns:a16="http://schemas.microsoft.com/office/drawing/2014/main" id="{F5BF4AB3-D4D7-DB8F-76DF-15CAD4D35179}"/>
              </a:ext>
            </a:extLst>
          </p:cNvPr>
          <p:cNvSpPr txBox="1"/>
          <p:nvPr/>
        </p:nvSpPr>
        <p:spPr>
          <a:xfrm>
            <a:off x="641931" y="457632"/>
            <a:ext cx="7968669" cy="4572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IN" sz="3200" b="1" dirty="0"/>
              <a:t>Innovation / Technology Used</a:t>
            </a:r>
            <a:endParaRPr lang="en-US" altLang="en-US" sz="3200" b="1" dirty="0">
              <a:solidFill>
                <a:schemeClr val="tx1"/>
              </a:solidFill>
              <a:latin typeface="Times New Roman" panose="02020603050405020304" pitchFamily="18" charset="0"/>
              <a:ea typeface="PMingLiU" pitchFamily="18" charset="-12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22F1B81-FC12-86F5-11E2-80061D13667E}"/>
              </a:ext>
            </a:extLst>
          </p:cNvPr>
          <p:cNvSpPr txBox="1"/>
          <p:nvPr/>
        </p:nvSpPr>
        <p:spPr>
          <a:xfrm>
            <a:off x="457200" y="16764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1424536-5921-6040-36A3-712479D809FC}"/>
              </a:ext>
            </a:extLst>
          </p:cNvPr>
          <p:cNvSpPr txBox="1"/>
          <p:nvPr/>
        </p:nvSpPr>
        <p:spPr>
          <a:xfrm>
            <a:off x="533401" y="914832"/>
            <a:ext cx="8077199" cy="53335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endParaRPr lang="en-US" sz="22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200" dirty="0"/>
              <a:t>Will be developed using </a:t>
            </a:r>
            <a:r>
              <a:rPr lang="en-IN" sz="2200" b="1" dirty="0"/>
              <a:t>Python</a:t>
            </a:r>
            <a:r>
              <a:rPr lang="en-IN" sz="2200" dirty="0"/>
              <a:t> for causal inference and ML, along with </a:t>
            </a:r>
            <a:r>
              <a:rPr lang="en-IN" sz="2200" b="1" dirty="0" err="1"/>
              <a:t>DoWhy</a:t>
            </a:r>
            <a:r>
              <a:rPr lang="en-IN" sz="2200" b="1" dirty="0"/>
              <a:t>/</a:t>
            </a:r>
            <a:r>
              <a:rPr lang="en-IN" sz="2200" b="1" dirty="0" err="1"/>
              <a:t>CausalNex</a:t>
            </a:r>
            <a:r>
              <a:rPr lang="en-IN" sz="2200" dirty="0"/>
              <a:t> (open-source causal inference libraries) to build and </a:t>
            </a:r>
            <a:r>
              <a:rPr lang="en-IN" sz="2200" dirty="0" err="1"/>
              <a:t>analyze</a:t>
            </a:r>
            <a:r>
              <a:rPr lang="en-IN" sz="2200" dirty="0"/>
              <a:t> cause-effect models. A </a:t>
            </a:r>
            <a:r>
              <a:rPr lang="en-IN" sz="2200" b="1" dirty="0"/>
              <a:t>React.js/Node.js</a:t>
            </a:r>
            <a:r>
              <a:rPr lang="en-IN" sz="2200" dirty="0"/>
              <a:t> dashboard will provide the user-facing decision-intelligence interface.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200" b="1" dirty="0"/>
              <a:t>Causal Graph </a:t>
            </a:r>
            <a:r>
              <a:rPr lang="en-IN" sz="2200" b="1" dirty="0" err="1"/>
              <a:t>Modeling</a:t>
            </a:r>
            <a:r>
              <a:rPr lang="en-IN" sz="2200" dirty="0"/>
              <a:t> will represent variables and their cause-effect relationships using </a:t>
            </a:r>
            <a:r>
              <a:rPr lang="en-IN" sz="2200" b="1" dirty="0" err="1"/>
              <a:t>NetworkX</a:t>
            </a:r>
            <a:r>
              <a:rPr lang="en-IN" sz="2200" dirty="0"/>
              <a:t>, allowing the system to visually map </a:t>
            </a:r>
            <a:r>
              <a:rPr lang="en-IN" sz="2200" i="1" dirty="0"/>
              <a:t>why</a:t>
            </a:r>
            <a:r>
              <a:rPr lang="en-IN" sz="2200" dirty="0"/>
              <a:t> an outcome occurs, not just predict </a:t>
            </a:r>
            <a:r>
              <a:rPr lang="en-IN" sz="2200" i="1" dirty="0"/>
              <a:t>what</a:t>
            </a:r>
            <a:r>
              <a:rPr lang="en-IN" sz="2200" dirty="0"/>
              <a:t> will happen.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200" b="1" dirty="0"/>
              <a:t>Machine Learning + Statistical Estimation</a:t>
            </a:r>
            <a:r>
              <a:rPr lang="en-IN" sz="2200" dirty="0"/>
              <a:t> (via </a:t>
            </a:r>
            <a:r>
              <a:rPr lang="en-IN" sz="2200" b="1" dirty="0"/>
              <a:t>Scikit-learn / </a:t>
            </a:r>
            <a:r>
              <a:rPr lang="en-IN" sz="2200" b="1" dirty="0" err="1"/>
              <a:t>EconML</a:t>
            </a:r>
            <a:r>
              <a:rPr lang="en-IN" sz="2200" dirty="0"/>
              <a:t>) will estimate causal effects from data and validate them through refutation tests — the same 4-step approach (model → identify → estimate → refute) used in </a:t>
            </a:r>
            <a:r>
              <a:rPr lang="en-IN" sz="2200" dirty="0" err="1"/>
              <a:t>DoWhy</a:t>
            </a:r>
            <a:r>
              <a:rPr lang="en-IN" sz="2200" dirty="0"/>
              <a:t>.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200" b="1" dirty="0"/>
              <a:t>Decision Dashboard</a:t>
            </a:r>
            <a:r>
              <a:rPr lang="en-IN" sz="2200" dirty="0"/>
              <a:t> will provide real-time visualization of causal insights, counterfactual "what-if" scenarios, and explainable recommendations for end users.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2833891594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99523C-E252-17ED-7EB2-0E26E659C7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ext Box 1">
            <a:extLst>
              <a:ext uri="{FF2B5EF4-FFF2-40B4-BE49-F238E27FC236}">
                <a16:creationId xmlns:a16="http://schemas.microsoft.com/office/drawing/2014/main" id="{F132E855-3F63-F956-D2F1-4278D3953AE9}"/>
              </a:ext>
            </a:extLst>
          </p:cNvPr>
          <p:cNvSpPr txBox="1"/>
          <p:nvPr/>
        </p:nvSpPr>
        <p:spPr>
          <a:xfrm>
            <a:off x="533400" y="413721"/>
            <a:ext cx="8077199" cy="4572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altLang="en-US" sz="3200" b="1" dirty="0">
                <a:ea typeface="PMingLiU" pitchFamily="18" charset="-120"/>
                <a:cs typeface="Times New Roman" panose="02020603050405020304" pitchFamily="18" charset="0"/>
              </a:rPr>
              <a:t>Market Research</a:t>
            </a:r>
            <a:endParaRPr lang="en-US" altLang="en-US" sz="3200" b="1" dirty="0">
              <a:solidFill>
                <a:schemeClr val="tx1"/>
              </a:solidFill>
              <a:ea typeface="PMingLiU" pitchFamily="18" charset="-12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B84ADA9-63F4-048C-61DF-73A9D3E9B63C}"/>
              </a:ext>
            </a:extLst>
          </p:cNvPr>
          <p:cNvSpPr txBox="1"/>
          <p:nvPr/>
        </p:nvSpPr>
        <p:spPr>
          <a:xfrm>
            <a:off x="457200" y="16764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58FE97E-6739-D36B-952C-A4AFC09C6D6F}"/>
              </a:ext>
            </a:extLst>
          </p:cNvPr>
          <p:cNvSpPr txBox="1"/>
          <p:nvPr/>
        </p:nvSpPr>
        <p:spPr>
          <a:xfrm>
            <a:off x="549565" y="990600"/>
            <a:ext cx="8077199" cy="518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algn="just"/>
            <a:r>
              <a:rPr lang="en-US" sz="2200" b="1" dirty="0"/>
              <a:t>Target Market:</a:t>
            </a:r>
            <a:r>
              <a:rPr lang="en-IN" sz="2200" dirty="0"/>
              <a:t>Enterprises in BFSI, healthcare, manufacturing, and government sectors needing explainable, cause-driven AI decisions instead of black-box predictions</a:t>
            </a:r>
            <a:r>
              <a:rPr lang="en-US" sz="2200" dirty="0"/>
              <a:t>. </a:t>
            </a:r>
          </a:p>
          <a:p>
            <a:pPr lvl="0" algn="just"/>
            <a:r>
              <a:rPr lang="en-US" sz="2200" b="1" dirty="0"/>
              <a:t>Global Market:</a:t>
            </a:r>
            <a:r>
              <a:rPr lang="en-IN" sz="2200" dirty="0"/>
              <a:t>The causal AI market is projected to reach USD 757.7 Billion by 2033, growing from USD 40.6 Billion in 2024 at a ~39% CAGR. </a:t>
            </a:r>
            <a:r>
              <a:rPr lang="en-IN" sz="2200" i="1" dirty="0">
                <a:hlinkClick r:id="rId3"/>
              </a:rPr>
              <a:t>(Grand View Research)</a:t>
            </a:r>
            <a:endParaRPr lang="en-US" sz="2200" dirty="0"/>
          </a:p>
          <a:p>
            <a:pPr lvl="0" algn="just"/>
            <a:r>
              <a:rPr lang="en-US" sz="2200" b="1" dirty="0"/>
              <a:t>Growth Drivers:</a:t>
            </a:r>
            <a:r>
              <a:rPr lang="en-US" sz="2200" dirty="0"/>
              <a:t> </a:t>
            </a:r>
            <a:r>
              <a:rPr lang="en-IN" sz="2200" dirty="0"/>
              <a:t>Rising demand for transparent, regulation-compliant AI, and growing availability of open-source causal inference tools accelerating enterprise adoption. </a:t>
            </a:r>
            <a:r>
              <a:rPr lang="en-IN" sz="2200" i="1" dirty="0">
                <a:hlinkClick r:id="rId4"/>
              </a:rPr>
              <a:t>(Grand View Research)</a:t>
            </a:r>
            <a:endParaRPr lang="en-IN" sz="2200" i="1" dirty="0"/>
          </a:p>
          <a:p>
            <a:pPr lvl="0" algn="just"/>
            <a:r>
              <a:rPr lang="en-US" sz="2200" b="1" dirty="0"/>
              <a:t>India Opportunity:</a:t>
            </a:r>
            <a:r>
              <a:rPr lang="en-US" sz="2200" dirty="0"/>
              <a:t> </a:t>
            </a:r>
            <a:r>
              <a:rPr lang="en-IN" sz="2200" dirty="0"/>
              <a:t>Indian banks are already applying causal AI to improve fraud detection, and NASSCOM projects Industrials, Automotive &amp; BFSI to drive 60% of AI-related value to India's GDP by FY2026. </a:t>
            </a:r>
            <a:r>
              <a:rPr lang="en-IN" sz="2200" i="1" dirty="0">
                <a:hlinkClick r:id="rId5"/>
              </a:rPr>
              <a:t>(</a:t>
            </a:r>
            <a:r>
              <a:rPr lang="en-IN" sz="2200" i="1" dirty="0" err="1">
                <a:hlinkClick r:id="rId5"/>
              </a:rPr>
              <a:t>MarketsandMarkets</a:t>
            </a:r>
            <a:r>
              <a:rPr lang="en-IN" sz="2200" i="1" dirty="0">
                <a:hlinkClick r:id="rId5"/>
              </a:rPr>
              <a:t>; NASSCOM)</a:t>
            </a:r>
            <a:endParaRPr lang="en-IN" sz="2200" i="1" dirty="0"/>
          </a:p>
          <a:p>
            <a:pPr lvl="0" algn="just"/>
            <a:r>
              <a:rPr lang="en-US" sz="2200" b="1" dirty="0"/>
              <a:t>Competitive Edge:</a:t>
            </a:r>
            <a:r>
              <a:rPr lang="en-IN" sz="2200" dirty="0"/>
              <a:t>Unlike existing enterprise dashboards (e.g., </a:t>
            </a:r>
            <a:r>
              <a:rPr lang="en-IN" sz="2200" dirty="0" err="1"/>
              <a:t>causaLens's</a:t>
            </a:r>
            <a:r>
              <a:rPr lang="en-IN" sz="2200" dirty="0"/>
              <a:t> </a:t>
            </a:r>
            <a:r>
              <a:rPr lang="en-IN" sz="2200" dirty="0" err="1"/>
              <a:t>decisionOS</a:t>
            </a:r>
            <a:r>
              <a:rPr lang="en-IN" sz="2200" dirty="0"/>
              <a:t>), CAIOS is positioned as a systems-level adaptive layer — reasoning about cause-effect before acting, not just visualizing insights for humans to act on.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1322918059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ext Box 1"/>
          <p:cNvSpPr txBox="1"/>
          <p:nvPr/>
        </p:nvSpPr>
        <p:spPr>
          <a:xfrm>
            <a:off x="565730" y="357981"/>
            <a:ext cx="8044869" cy="4572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algn="ctr" defTabSz="449580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altLang="en-US" sz="3200" b="1" dirty="0">
                <a:ea typeface="PMingLiU" pitchFamily="18" charset="-120"/>
                <a:cs typeface="Times New Roman" panose="02020603050405020304" pitchFamily="18" charset="0"/>
              </a:rPr>
              <a:t>Business Model / Revenue Plan</a:t>
            </a:r>
            <a:endParaRPr lang="en-US" altLang="en-US" sz="3200" b="1" dirty="0">
              <a:solidFill>
                <a:schemeClr val="tx1"/>
              </a:solidFill>
              <a:ea typeface="PMingLiU" pitchFamily="18" charset="-12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81000" y="16002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9F5FA27-A9DA-ECB3-F805-08FC456F6D99}"/>
              </a:ext>
            </a:extLst>
          </p:cNvPr>
          <p:cNvSpPr txBox="1"/>
          <p:nvPr/>
        </p:nvSpPr>
        <p:spPr>
          <a:xfrm>
            <a:off x="549565" y="990600"/>
            <a:ext cx="8044869" cy="519938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algn="just"/>
            <a:r>
              <a:rPr lang="en-US" sz="2200" b="1" dirty="0"/>
              <a:t>Revenue Stream 1 – </a:t>
            </a:r>
            <a:r>
              <a:rPr lang="en-IN" sz="2200" b="1" dirty="0"/>
              <a:t>SaaS Subscription:</a:t>
            </a:r>
            <a:r>
              <a:rPr lang="en-IN" sz="2200" dirty="0"/>
              <a:t> Tiered monthly/annual access to CAIOS's causal decision-intelligence dashboard causal graph </a:t>
            </a:r>
            <a:r>
              <a:rPr lang="en-IN" sz="2200" dirty="0" err="1"/>
              <a:t>modeling</a:t>
            </a:r>
            <a:r>
              <a:rPr lang="en-IN" sz="2200" dirty="0"/>
              <a:t>, explainable insights, and what-if analysis.</a:t>
            </a:r>
            <a:endParaRPr lang="en-US" sz="2200" dirty="0"/>
          </a:p>
          <a:p>
            <a:pPr lvl="0" algn="just"/>
            <a:r>
              <a:rPr lang="en-US" sz="2200" b="1" dirty="0"/>
              <a:t>Revenue Stream 2 – </a:t>
            </a:r>
            <a:r>
              <a:rPr lang="en-IN" sz="2200" b="1" dirty="0"/>
              <a:t>Enterprise Licensing:</a:t>
            </a:r>
            <a:r>
              <a:rPr lang="en-IN" sz="2200" dirty="0"/>
              <a:t> Custom deployment and integration of CAIOS's causal reasoning engine into an organization's existing decision or </a:t>
            </a:r>
            <a:r>
              <a:rPr lang="en-IN" sz="2200" dirty="0" err="1"/>
              <a:t>MLOps</a:t>
            </a:r>
            <a:r>
              <a:rPr lang="en-IN" sz="2200" dirty="0"/>
              <a:t> pipeline.</a:t>
            </a:r>
            <a:endParaRPr lang="en-US" sz="2200" dirty="0"/>
          </a:p>
          <a:p>
            <a:pPr algn="just"/>
            <a:r>
              <a:rPr lang="en-US" sz="2200" b="1" dirty="0"/>
              <a:t>Pricing Model:</a:t>
            </a:r>
            <a:r>
              <a:rPr lang="en-US" sz="2200" dirty="0"/>
              <a:t> </a:t>
            </a:r>
            <a:r>
              <a:rPr lang="en-IN" sz="2200" dirty="0"/>
              <a:t>Tiered Basic, Professional, and Enterprise plans based on data volume and integration depth.</a:t>
            </a:r>
          </a:p>
          <a:p>
            <a:pPr algn="just"/>
            <a:r>
              <a:rPr lang="en-US" sz="2200" b="1" dirty="0"/>
              <a:t>Partnerships:</a:t>
            </a:r>
            <a:r>
              <a:rPr lang="en-US" sz="2200" dirty="0"/>
              <a:t> </a:t>
            </a:r>
            <a:r>
              <a:rPr lang="en-IN" sz="2200" dirty="0"/>
              <a:t>Collaborate with cloud providers, </a:t>
            </a:r>
            <a:r>
              <a:rPr lang="en-IN" sz="2200" dirty="0" err="1"/>
              <a:t>MLOps</a:t>
            </a:r>
            <a:r>
              <a:rPr lang="en-IN" sz="2200" dirty="0"/>
              <a:t> platforms, and domain-specific enterprises (BFSI, healthcare, manufacturing) for pilot deployments and integration support.</a:t>
            </a:r>
          </a:p>
          <a:p>
            <a:pPr lvl="0" algn="just"/>
            <a:r>
              <a:rPr lang="en-US" sz="2200" b="1" dirty="0"/>
              <a:t>Cost Structure: </a:t>
            </a:r>
            <a:r>
              <a:rPr lang="en-IN" sz="2200" dirty="0"/>
              <a:t>Model development and research, cloud compute/infrastructure, open-source framework maintenance and customization, and customer support</a:t>
            </a:r>
            <a:r>
              <a:rPr lang="en-US" sz="2200" dirty="0"/>
              <a:t>. </a:t>
            </a:r>
          </a:p>
          <a:p>
            <a:pPr lvl="0" algn="just"/>
            <a:r>
              <a:rPr lang="en-US" sz="2200" b="1" dirty="0"/>
              <a:t>Why it </a:t>
            </a:r>
            <a:r>
              <a:rPr lang="en-US" sz="2200" b="1" dirty="0" err="1"/>
              <a:t>Works:</a:t>
            </a:r>
            <a:r>
              <a:rPr lang="en-US" sz="2200" dirty="0" err="1"/>
              <a:t>S</a:t>
            </a:r>
            <a:r>
              <a:rPr lang="en-IN" sz="2200" dirty="0" err="1"/>
              <a:t>ubscriptions</a:t>
            </a:r>
            <a:r>
              <a:rPr lang="en-IN" sz="2200" dirty="0"/>
              <a:t> ensure steady revenue; enterprise licensing drives larger, long-term contracts a model already validated by </a:t>
            </a:r>
            <a:r>
              <a:rPr lang="en-IN" sz="2200" dirty="0" err="1"/>
              <a:t>causaLens's</a:t>
            </a:r>
            <a:r>
              <a:rPr lang="en-IN" sz="2200" dirty="0"/>
              <a:t> </a:t>
            </a:r>
            <a:r>
              <a:rPr lang="en-IN" sz="2200" dirty="0" err="1"/>
              <a:t>decisionOS</a:t>
            </a:r>
            <a:endParaRPr lang="en-IN" sz="2200" dirty="0"/>
          </a:p>
          <a:p>
            <a:pPr lvl="0" algn="just"/>
            <a:endParaRPr lang="en-US" sz="2200" dirty="0"/>
          </a:p>
        </p:txBody>
      </p: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4077B9-AAF2-8594-704A-61142F5659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ext Box 1">
            <a:extLst>
              <a:ext uri="{FF2B5EF4-FFF2-40B4-BE49-F238E27FC236}">
                <a16:creationId xmlns:a16="http://schemas.microsoft.com/office/drawing/2014/main" id="{BFD7F905-896A-C9C2-83E3-6D2F7F45FCD2}"/>
              </a:ext>
            </a:extLst>
          </p:cNvPr>
          <p:cNvSpPr txBox="1"/>
          <p:nvPr/>
        </p:nvSpPr>
        <p:spPr>
          <a:xfrm>
            <a:off x="609599" y="357981"/>
            <a:ext cx="7957131" cy="4572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algn="ctr" defTabSz="449580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altLang="en-US" sz="3200" b="1" dirty="0">
                <a:solidFill>
                  <a:schemeClr val="tx1"/>
                </a:solidFill>
                <a:ea typeface="PMingLiU" pitchFamily="18" charset="-120"/>
                <a:cs typeface="Times New Roman" panose="02020603050405020304" pitchFamily="18" charset="0"/>
              </a:rPr>
              <a:t>Implementation Plan</a:t>
            </a:r>
          </a:p>
        </p:txBody>
      </p:sp>
      <p:sp>
        <p:nvSpPr>
          <p:cNvPr id="3076" name="Text Box 3">
            <a:extLst>
              <a:ext uri="{FF2B5EF4-FFF2-40B4-BE49-F238E27FC236}">
                <a16:creationId xmlns:a16="http://schemas.microsoft.com/office/drawing/2014/main" id="{E4E05BE6-47A0-0B0D-CE8F-DD1B67F95D8C}"/>
              </a:ext>
            </a:extLst>
          </p:cNvPr>
          <p:cNvSpPr txBox="1"/>
          <p:nvPr/>
        </p:nvSpPr>
        <p:spPr>
          <a:xfrm>
            <a:off x="6477000" y="6248400"/>
            <a:ext cx="2133600" cy="365125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ctr" anchorCtr="0"/>
          <a:lstStyle/>
          <a:p>
            <a:pPr algn="r" defTabSz="44958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IN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029BA8D-05C7-FAB5-9698-E4102A836FD1}"/>
              </a:ext>
            </a:extLst>
          </p:cNvPr>
          <p:cNvSpPr txBox="1"/>
          <p:nvPr/>
        </p:nvSpPr>
        <p:spPr>
          <a:xfrm>
            <a:off x="381000" y="16002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D90D9ED-02CF-A626-ADE6-DB5AAC1A8B9B}"/>
              </a:ext>
            </a:extLst>
          </p:cNvPr>
          <p:cNvSpPr txBox="1"/>
          <p:nvPr/>
        </p:nvSpPr>
        <p:spPr>
          <a:xfrm>
            <a:off x="598004" y="1023097"/>
            <a:ext cx="8001000" cy="5389039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US" sz="2200" b="1" dirty="0"/>
              <a:t>Stage 1 – Research &amp; Design (Month 1–2):</a:t>
            </a:r>
            <a:r>
              <a:rPr lang="en-IN" sz="2200" dirty="0"/>
              <a:t>Study causal inference frameworks (</a:t>
            </a:r>
            <a:r>
              <a:rPr lang="en-IN" sz="2200" dirty="0" err="1"/>
              <a:t>DoWhy</a:t>
            </a:r>
            <a:r>
              <a:rPr lang="en-IN" sz="2200" dirty="0"/>
              <a:t>, </a:t>
            </a:r>
            <a:r>
              <a:rPr lang="en-IN" sz="2200" dirty="0" err="1"/>
              <a:t>CausalNex</a:t>
            </a:r>
            <a:r>
              <a:rPr lang="en-IN" sz="2200" dirty="0"/>
              <a:t>), define CAIOS's system architecture, and identify target datasets.</a:t>
            </a:r>
            <a:endParaRPr lang="en-US" sz="2200" dirty="0"/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US" sz="2200" b="1" dirty="0"/>
              <a:t>Stage 2 – Development (Month 3–5):</a:t>
            </a:r>
            <a:r>
              <a:rPr lang="en-IN" sz="2200" dirty="0"/>
              <a:t>Build causal graph </a:t>
            </a:r>
            <a:r>
              <a:rPr lang="en-IN" sz="2200" dirty="0" err="1"/>
              <a:t>modeling</a:t>
            </a:r>
            <a:r>
              <a:rPr lang="en-IN" sz="2200" dirty="0"/>
              <a:t>, cause-effect estimation, and the decision dashboard interface</a:t>
            </a:r>
            <a:r>
              <a:rPr lang="en-US" sz="2200" dirty="0"/>
              <a:t>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US" sz="2200" b="1" dirty="0"/>
              <a:t>Stage 3 – Testing &amp; Validation (Month 6–7):</a:t>
            </a:r>
            <a:r>
              <a:rPr lang="en-US" sz="2200" dirty="0"/>
              <a:t> </a:t>
            </a:r>
            <a:r>
              <a:rPr lang="en-IN" sz="2200" dirty="0"/>
              <a:t>Validate causal estimates using refutation tests, benchmark against correlation-based models, and refine accuracy.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US" sz="2200" b="1" dirty="0"/>
              <a:t>Stage 4 – Deployment (Month 8–10):</a:t>
            </a:r>
            <a:r>
              <a:rPr lang="en-US" sz="2200" dirty="0"/>
              <a:t> </a:t>
            </a:r>
            <a:r>
              <a:rPr lang="en-IN" sz="2200" dirty="0"/>
              <a:t>Deploy CAIOS in a pilot use case, gather feedback, and prepare documentation/publication.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US" sz="2200" b="1" dirty="0"/>
              <a:t>Required Resources:</a:t>
            </a:r>
            <a:r>
              <a:rPr lang="en-US" sz="2200" dirty="0"/>
              <a:t> </a:t>
            </a:r>
            <a:r>
              <a:rPr lang="en-IN" sz="2200" dirty="0"/>
              <a:t>ML/causal-inference developers, cloud compute, domain datasets, and open-source frameworks (</a:t>
            </a:r>
            <a:r>
              <a:rPr lang="en-IN" sz="2200" dirty="0" err="1"/>
              <a:t>DoWhy</a:t>
            </a:r>
            <a:r>
              <a:rPr lang="en-IN" sz="2200" dirty="0"/>
              <a:t>, </a:t>
            </a:r>
            <a:r>
              <a:rPr lang="en-IN" sz="2200" dirty="0" err="1"/>
              <a:t>NetworkX</a:t>
            </a:r>
            <a:r>
              <a:rPr lang="en-IN" sz="2200" dirty="0"/>
              <a:t>, </a:t>
            </a:r>
            <a:r>
              <a:rPr lang="en-IN" sz="2200" dirty="0" err="1"/>
              <a:t>EconML</a:t>
            </a:r>
            <a:r>
              <a:rPr lang="en-IN" sz="2200" dirty="0"/>
              <a:t>).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US" sz="2200" b="1" dirty="0"/>
              <a:t>Collaborations:</a:t>
            </a:r>
            <a:r>
              <a:rPr lang="en-IN" sz="2200" dirty="0"/>
              <a:t>Guidance from faculty/mentors, and potential pilot partnerships with organizations in BFSI, healthcare, or manufacturing for real-world validation.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2536817847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3400" y="254154"/>
            <a:ext cx="8077200" cy="596922"/>
          </a:xfrm>
          <a:prstGeom prst="rect">
            <a:avLst/>
          </a:prstGeom>
        </p:spPr>
        <p:txBody>
          <a:bodyPr vert="horz" wrap="square" lIns="0" tIns="138521" rIns="0" bIns="0" rtlCol="0" anchor="ctr" anchorCtr="0">
            <a:spAutoFit/>
          </a:bodyPr>
          <a:lstStyle/>
          <a:p>
            <a:pPr marL="1766233">
              <a:spcBef>
                <a:spcPts val="111"/>
              </a:spcBef>
            </a:pPr>
            <a:r>
              <a:rPr lang="en-US" sz="3200" b="1" dirty="0">
                <a:latin typeface="+mn-lt"/>
              </a:rPr>
              <a:t>         Promotion &amp; Sales</a:t>
            </a:r>
            <a:endParaRPr sz="3200" b="1" kern="1200" dirty="0">
              <a:solidFill>
                <a:schemeClr val="tx1"/>
              </a:solidFill>
              <a:latin typeface="+mn-lt"/>
              <a:ea typeface="PMingLiU" pitchFamily="18" charset="-12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4DD20AC-1C1F-D20F-3EE5-21FE03AC94D4}"/>
              </a:ext>
            </a:extLst>
          </p:cNvPr>
          <p:cNvSpPr txBox="1"/>
          <p:nvPr/>
        </p:nvSpPr>
        <p:spPr>
          <a:xfrm>
            <a:off x="533400" y="1143000"/>
            <a:ext cx="8077200" cy="518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US" sz="2200" b="1" dirty="0"/>
              <a:t>Live Product Demonstrations </a:t>
            </a:r>
            <a:r>
              <a:rPr lang="en-IN" sz="2200" dirty="0"/>
              <a:t>in colleges, research labs, and AI/tech events to showcase causal reasoning vs. traditional black-box predictions.</a:t>
            </a:r>
            <a:endParaRPr lang="en-US" sz="2200" dirty="0"/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200" b="1" dirty="0"/>
              <a:t>Digital Presence</a:t>
            </a:r>
            <a:r>
              <a:rPr lang="en-IN" sz="2200" dirty="0"/>
              <a:t> through LinkedIn, technical blogs, and open-source publishing (GitHub) to build credibility in the causal AI community.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US" sz="2200" b="1" dirty="0"/>
              <a:t>Pilot Programs </a:t>
            </a:r>
            <a:r>
              <a:rPr lang="en-IN" sz="2200" dirty="0"/>
              <a:t>with academic institutions and select enterprises to validate CAIOS on real decision-making use cases.</a:t>
            </a:r>
            <a:endParaRPr lang="en-US" sz="2200" dirty="0"/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US" sz="2200" b="1" dirty="0"/>
              <a:t>Direct B2B </a:t>
            </a:r>
            <a:r>
              <a:rPr lang="en-IN" sz="2200" b="1" dirty="0"/>
              <a:t>Outreach</a:t>
            </a:r>
            <a:r>
              <a:rPr lang="en-IN" sz="2200" dirty="0"/>
              <a:t> targeting BFSI, healthcare, and manufacturing organizations exploring explainable AI adoption.</a:t>
            </a:r>
            <a:endParaRPr lang="en-US" sz="2200" dirty="0"/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200" b="1" dirty="0"/>
              <a:t>Research &amp; Publication </a:t>
            </a:r>
            <a:r>
              <a:rPr lang="en-IN" sz="2200" dirty="0"/>
              <a:t>presenting CAIOS at relevant workshops/conferences (e.g., causal methods in software engineering) to build academic credibility alongside commercial traction.</a:t>
            </a:r>
            <a:r>
              <a:rPr lang="en-IN" sz="2400" b="1" dirty="0"/>
              <a:t>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200" b="1" dirty="0"/>
              <a:t>Strategic Partnerships</a:t>
            </a:r>
            <a:r>
              <a:rPr lang="en-IN" sz="2200" dirty="0"/>
              <a:t> with cloud providers and </a:t>
            </a:r>
            <a:r>
              <a:rPr lang="en-IN" sz="2200" dirty="0" err="1"/>
              <a:t>MLOps</a:t>
            </a:r>
            <a:r>
              <a:rPr lang="en-IN" sz="2200" dirty="0"/>
              <a:t> platforms for integration and distribution.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09600" y="241864"/>
            <a:ext cx="8000999" cy="583072"/>
          </a:xfrm>
          <a:prstGeom prst="rect">
            <a:avLst/>
          </a:prstGeom>
        </p:spPr>
        <p:txBody>
          <a:bodyPr vert="horz" wrap="square" lIns="0" tIns="138521" rIns="0" bIns="0" rtlCol="0" anchor="ctr" anchorCtr="0">
            <a:spAutoFit/>
          </a:bodyPr>
          <a:lstStyle/>
          <a:p>
            <a:pPr marL="1379173">
              <a:spcBef>
                <a:spcPts val="111"/>
              </a:spcBef>
            </a:pPr>
            <a:r>
              <a:rPr lang="en-US" sz="3200" b="1" dirty="0">
                <a:latin typeface="+mn-lt"/>
              </a:rPr>
              <a:t>Societal / Environmental Impact</a:t>
            </a:r>
            <a:endParaRPr sz="3200" b="1" kern="1200" dirty="0">
              <a:solidFill>
                <a:schemeClr val="tx1"/>
              </a:solidFill>
              <a:latin typeface="+mn-lt"/>
              <a:ea typeface="PMingLiU" pitchFamily="18" charset="-12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BA5D1D7-06D4-9C41-52DE-1A766D7CA512}"/>
              </a:ext>
            </a:extLst>
          </p:cNvPr>
          <p:cNvSpPr txBox="1"/>
          <p:nvPr/>
        </p:nvSpPr>
        <p:spPr>
          <a:xfrm>
            <a:off x="609600" y="1219200"/>
            <a:ext cx="8001000" cy="48768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200" b="1" dirty="0"/>
              <a:t>Improves Decision Trust:</a:t>
            </a:r>
            <a:r>
              <a:rPr lang="en-IN" sz="2200" dirty="0"/>
              <a:t> Reduces reliance on opaque, black-box AI by showing </a:t>
            </a:r>
            <a:r>
              <a:rPr lang="en-IN" sz="2200" i="1" dirty="0"/>
              <a:t>why</a:t>
            </a:r>
            <a:r>
              <a:rPr lang="en-IN" sz="2200" dirty="0"/>
              <a:t> a decision was made, helping organizations make more accountable choices.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200" b="1" dirty="0"/>
              <a:t>Enhances AI Accountability:</a:t>
            </a:r>
            <a:r>
              <a:rPr lang="en-IN" sz="2200" dirty="0"/>
              <a:t> Supports regulatory and ethical AI requirements by making automated decisions explainable and auditable increasingly required under emerging AI governance frameworks.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200" b="1" dirty="0"/>
              <a:t>Supports Sustainable Development Goals (SDGs):</a:t>
            </a:r>
            <a:r>
              <a:rPr lang="en-IN" sz="2200" dirty="0"/>
              <a:t> Contributes to SDG 9 (Industry, Innovation &amp; Infrastructure) by advancing responsible AI infrastructure, and SDG 16 (Peace, Justice &amp; Strong Institutions) through transparent, accountable decision systems.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200" b="1" dirty="0"/>
              <a:t>Reduces Bias &amp; Wrong Decisions:</a:t>
            </a:r>
            <a:r>
              <a:rPr lang="en-IN" sz="2200" dirty="0"/>
              <a:t> By identifying true causes instead of spurious correlations, CAIOS helps prevent flawed automated decisions in high-stakes areas like healthcare and finance.</a:t>
            </a:r>
            <a:endParaRPr lang="en-US" sz="2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924800" cy="596922"/>
          </a:xfrm>
          <a:prstGeom prst="rect">
            <a:avLst/>
          </a:prstGeom>
        </p:spPr>
        <p:txBody>
          <a:bodyPr vert="horz" wrap="square" lIns="0" tIns="138521" rIns="0" bIns="0" rtlCol="0" anchor="ctr" anchorCtr="0">
            <a:spAutoFit/>
          </a:bodyPr>
          <a:lstStyle/>
          <a:p>
            <a:pPr marL="1623803">
              <a:spcBef>
                <a:spcPts val="111"/>
              </a:spcBef>
            </a:pPr>
            <a:r>
              <a:rPr lang="en-US" sz="3200" b="1" dirty="0">
                <a:latin typeface="+mn-lt"/>
              </a:rPr>
              <a:t>Future Plans / Next Steps</a:t>
            </a:r>
            <a:endParaRPr sz="3200" b="1" kern="1200" dirty="0">
              <a:solidFill>
                <a:schemeClr val="tx1"/>
              </a:solidFill>
              <a:latin typeface="+mn-lt"/>
              <a:ea typeface="PMingLiU" pitchFamily="18" charset="-12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F4DD728-25A2-ECD4-EA13-627FE993E11D}"/>
              </a:ext>
            </a:extLst>
          </p:cNvPr>
          <p:cNvSpPr txBox="1"/>
          <p:nvPr/>
        </p:nvSpPr>
        <p:spPr>
          <a:xfrm>
            <a:off x="609600" y="1066800"/>
            <a:ext cx="7924800" cy="47244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200" b="1" dirty="0"/>
              <a:t>Enhance Causal </a:t>
            </a:r>
            <a:r>
              <a:rPr lang="en-IN" sz="2200" b="1" dirty="0" err="1"/>
              <a:t>Modeling</a:t>
            </a:r>
            <a:r>
              <a:rPr lang="en-IN" sz="2200" b="1" dirty="0"/>
              <a:t>:</a:t>
            </a:r>
            <a:r>
              <a:rPr lang="en-IN" sz="2200" dirty="0"/>
              <a:t> Improve causal graph accuracy and expand counterfactual reasoning capabilities using richer real-world datasets.</a:t>
            </a:r>
            <a:endParaRPr lang="en-US" sz="2200" dirty="0"/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200" b="1" dirty="0"/>
              <a:t>Launch New Features:</a:t>
            </a:r>
            <a:r>
              <a:rPr lang="en-IN" sz="2200" dirty="0"/>
              <a:t> Add multi-domain causal templates, automated causal discovery, and an API for integration into existing enterprise </a:t>
            </a:r>
            <a:r>
              <a:rPr lang="en-IN" sz="2200" dirty="0" err="1"/>
              <a:t>MLOps</a:t>
            </a:r>
            <a:r>
              <a:rPr lang="en-IN" sz="2200" dirty="0"/>
              <a:t> pipelines.</a:t>
            </a:r>
            <a:endParaRPr lang="en-US" sz="2200" dirty="0"/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200" b="1" dirty="0"/>
              <a:t>Pursue Publication &amp; Incubation:</a:t>
            </a:r>
            <a:r>
              <a:rPr lang="en-IN" sz="2200" dirty="0"/>
              <a:t> Submit research findings to relevant workshops/conferences (e.g., causal methods in software engineering), and explore incubation support through institutional Technology Business Incubators.</a:t>
            </a:r>
            <a:r>
              <a:rPr lang="en-IN" sz="2400" b="1" dirty="0"/>
              <a:t>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200" b="1" dirty="0"/>
              <a:t>Expand Partnerships:</a:t>
            </a:r>
            <a:r>
              <a:rPr lang="en-IN" sz="2200" dirty="0"/>
              <a:t> Collaborate with cloud/</a:t>
            </a:r>
            <a:r>
              <a:rPr lang="en-IN" sz="2200" dirty="0" err="1"/>
              <a:t>MLOps</a:t>
            </a:r>
            <a:r>
              <a:rPr lang="en-IN" sz="2200" dirty="0"/>
              <a:t> platforms, research labs, and early enterprise pilot partners in BFSI, healthcare, or manufacturing.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200" b="1" dirty="0"/>
              <a:t>Scale the Business:</a:t>
            </a:r>
            <a:r>
              <a:rPr lang="en-IN" sz="2200" dirty="0"/>
              <a:t> Grow from an academic prototype to a pilot-validated tool, then toward enterprise licensing and broader adoption.</a:t>
            </a:r>
            <a:endParaRPr lang="en-US" sz="2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09600" y="305018"/>
            <a:ext cx="7924800" cy="596922"/>
          </a:xfrm>
          <a:prstGeom prst="rect">
            <a:avLst/>
          </a:prstGeom>
        </p:spPr>
        <p:txBody>
          <a:bodyPr vert="horz" wrap="square" lIns="0" tIns="138521" rIns="0" bIns="0" rtlCol="0" anchor="ctr" anchorCtr="0">
            <a:spAutoFit/>
          </a:bodyPr>
          <a:lstStyle/>
          <a:p>
            <a:pPr algn="ctr"/>
            <a:r>
              <a:rPr lang="en-US" sz="3200" b="1" dirty="0">
                <a:latin typeface="+mn-lt"/>
              </a:rPr>
              <a:t>Summary / Key Takeaways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F6C2201-FB4F-8A90-EEBF-488E39D5C67F}"/>
              </a:ext>
            </a:extLst>
          </p:cNvPr>
          <p:cNvSpPr txBox="1"/>
          <p:nvPr/>
        </p:nvSpPr>
        <p:spPr>
          <a:xfrm>
            <a:off x="609600" y="1295400"/>
            <a:ext cx="7924800" cy="4648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200" b="1" dirty="0"/>
              <a:t>CAIOS</a:t>
            </a:r>
            <a:r>
              <a:rPr lang="en-IN" sz="2200" dirty="0"/>
              <a:t> is a causal-inference-driven decision and adaptation system that reasons about </a:t>
            </a:r>
            <a:r>
              <a:rPr lang="en-IN" sz="2200" i="1" dirty="0"/>
              <a:t>why</a:t>
            </a:r>
            <a:r>
              <a:rPr lang="en-IN" sz="2200" dirty="0"/>
              <a:t> outcomes happen, not just what will happen.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200" dirty="0"/>
              <a:t>It combines </a:t>
            </a:r>
            <a:r>
              <a:rPr lang="en-IN" sz="2200" b="1" dirty="0"/>
              <a:t>Causal Graph </a:t>
            </a:r>
            <a:r>
              <a:rPr lang="en-IN" sz="2200" b="1" dirty="0" err="1"/>
              <a:t>Modeling</a:t>
            </a:r>
            <a:r>
              <a:rPr lang="en-IN" sz="2200" dirty="0"/>
              <a:t>, </a:t>
            </a:r>
            <a:r>
              <a:rPr lang="en-IN" sz="2200" b="1" dirty="0"/>
              <a:t>Counterfactual "What-If" Reasoning</a:t>
            </a:r>
            <a:r>
              <a:rPr lang="en-IN" sz="2200" dirty="0"/>
              <a:t>, and an </a:t>
            </a:r>
            <a:r>
              <a:rPr lang="en-IN" sz="2200" b="1" dirty="0"/>
              <a:t>Explainable Decision Dashboard</a:t>
            </a:r>
            <a:r>
              <a:rPr lang="en-IN" sz="2200" dirty="0"/>
              <a:t> to move beyond black-box predictions toward trustworthy, actionable insights.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200" dirty="0"/>
              <a:t>The solution offers an </a:t>
            </a:r>
            <a:r>
              <a:rPr lang="en-IN" sz="2200" b="1" dirty="0"/>
              <a:t>explainable, adaptive, and research-grounded intelligence layer</a:t>
            </a:r>
            <a:r>
              <a:rPr lang="en-IN" sz="2200" dirty="0"/>
              <a:t> for enterprises in BFSI, healthcare, and manufacturing seeking transparent, cause-driven decisions.</a:t>
            </a:r>
          </a:p>
          <a:p>
            <a:pPr algn="just">
              <a:buNone/>
            </a:pPr>
            <a:r>
              <a:rPr lang="en-US" sz="2200" b="1" dirty="0"/>
              <a:t>Mission:</a:t>
            </a:r>
            <a:r>
              <a:rPr lang="en-IN" sz="2200" dirty="0"/>
              <a:t>"Understanding why, not just predicting what building trustworthy intelligence through causal reasoning."</a:t>
            </a:r>
            <a:endParaRPr lang="en-US" sz="2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14459" y="2646838"/>
            <a:ext cx="6712305" cy="1325519"/>
          </a:xfrm>
          <a:prstGeom prst="rect">
            <a:avLst/>
          </a:prstGeom>
        </p:spPr>
        <p:txBody>
          <a:bodyPr vert="horz" wrap="square" lIns="0" tIns="138521" rIns="0" bIns="0" rtlCol="0" anchor="ctr" anchorCtr="0">
            <a:spAutoFit/>
          </a:bodyPr>
          <a:lstStyle/>
          <a:p>
            <a:pPr marL="10872">
              <a:spcBef>
                <a:spcPts val="111"/>
              </a:spcBef>
            </a:pPr>
            <a:r>
              <a:rPr lang="en-IN" sz="8561" b="1" dirty="0">
                <a:latin typeface="+mn-lt"/>
              </a:rPr>
              <a:t>    Thank You</a:t>
            </a:r>
            <a:endParaRPr sz="8561" b="1" spc="-9" dirty="0">
              <a:latin typeface="+mn-l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TM03457485[[fn=Mesh]]</Template>
  <TotalTime>2238</TotalTime>
  <Words>1461</Words>
  <Application>Microsoft Office PowerPoint</Application>
  <PresentationFormat>On-screen Show (4:3)</PresentationFormat>
  <Paragraphs>90</Paragraphs>
  <Slides>13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PMingLiU</vt:lpstr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        Promotion &amp; Sales</vt:lpstr>
      <vt:lpstr>Societal / Environmental Impact</vt:lpstr>
      <vt:lpstr>Future Plans / Next Steps</vt:lpstr>
      <vt:lpstr>Summary / Key Takeaways</vt:lpstr>
      <vt:lpstr>    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Performance Evaluation of Routing Protocol  Under Security Attacks</dc:title>
  <dc:creator>SAINATH</dc:creator>
  <cp:lastModifiedBy>PIYUSH TIWARI</cp:lastModifiedBy>
  <cp:revision>410</cp:revision>
  <dcterms:created xsi:type="dcterms:W3CDTF">2012-05-24T06:22:00Z</dcterms:created>
  <dcterms:modified xsi:type="dcterms:W3CDTF">2026-08-17T17:04:32Z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58E8479787434006BF3979251FFAC609_13</vt:lpwstr>
  </property>
  <property fmtid="{D5CDD505-2E9C-101B-9397-08002B2CF9AE}" pid="3" name="KSOProductBuildVer">
    <vt:lpwstr>1033-12.2.0.23155</vt:lpwstr>
  </property>
</Properties>
</file>